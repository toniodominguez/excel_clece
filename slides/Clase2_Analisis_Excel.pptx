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31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437" y="13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778240" y="-2194560"/>
            <a:ext cx="5943600" cy="5943600"/>
          </a:xfrm>
          <a:prstGeom prst="ellipse">
            <a:avLst/>
          </a:prstGeom>
          <a:solidFill>
            <a:srgbClr val="1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4206240"/>
            <a:ext cx="3291840" cy="3291840"/>
          </a:xfrm>
          <a:prstGeom prst="ellipse">
            <a:avLst/>
          </a:prstGeom>
          <a:solidFill>
            <a:srgbClr val="0A4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051560"/>
            <a:ext cx="3095244" cy="31089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132019"/>
                </a:solidFill>
                <a:latin typeface="Calibri"/>
              </a:rPr>
              <a:t>CLASE 2 · ANALISIS DE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987552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ambria"/>
              </a:rPr>
              <a:t>Curso de Microsoft Excel</a:t>
            </a:r>
          </a:p>
          <a:p>
            <a:pPr algn="l"/>
            <a:r>
              <a:rPr sz="4600" b="1">
                <a:solidFill>
                  <a:srgbClr val="FFFFFF"/>
                </a:solidFill>
                <a:latin typeface="Cambria"/>
              </a:rPr>
              <a:t>Clase 2: Analisis de 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2044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CFE3D6"/>
                </a:solidFill>
                <a:latin typeface="Calibri"/>
              </a:rPr>
              <a:t>De las tablas y graficos a las tablas dinamicas y funciones de texto.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074920"/>
            <a:ext cx="2651760" cy="1051560"/>
          </a:xfrm>
          <a:prstGeom prst="roundRect">
            <a:avLst>
              <a:gd name="adj" fmla="val 12000"/>
            </a:avLst>
          </a:prstGeom>
          <a:solidFill>
            <a:srgbClr val="1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77800" tIns="127000" rIns="127000" bIns="101600" rtlCol="0" anchor="ctr"/>
          <a:lstStyle/>
          <a:p>
            <a:pPr algn="l"/>
            <a:r>
              <a:rPr sz="1800" b="1">
                <a:solidFill>
                  <a:srgbClr val="E8A33D"/>
                </a:solidFill>
                <a:latin typeface="Cambria"/>
              </a:rPr>
              <a:t>Duracion</a:t>
            </a:r>
          </a:p>
          <a:p>
            <a:pPr algn="l"/>
            <a:r>
              <a:rPr sz="1100">
                <a:solidFill>
                  <a:srgbClr val="9FB3A6"/>
                </a:solidFill>
                <a:latin typeface="Calibri"/>
              </a:rPr>
              <a:t>6 horas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03320" y="5074920"/>
            <a:ext cx="2651760" cy="1051560"/>
          </a:xfrm>
          <a:prstGeom prst="roundRect">
            <a:avLst>
              <a:gd name="adj" fmla="val 12000"/>
            </a:avLst>
          </a:prstGeom>
          <a:solidFill>
            <a:srgbClr val="1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77800" tIns="127000" rIns="127000" bIns="101600" rtlCol="0" anchor="ctr"/>
          <a:lstStyle/>
          <a:p>
            <a:pPr algn="l"/>
            <a:r>
              <a:rPr sz="1800" b="1">
                <a:solidFill>
                  <a:srgbClr val="E8A33D"/>
                </a:solidFill>
                <a:latin typeface="Cambria"/>
              </a:rPr>
              <a:t>Contenido</a:t>
            </a:r>
          </a:p>
          <a:p>
            <a:pPr algn="l"/>
            <a:r>
              <a:rPr sz="1100">
                <a:solidFill>
                  <a:srgbClr val="9FB3A6"/>
                </a:solidFill>
                <a:latin typeface="Calibri"/>
              </a:rPr>
              <a:t>Apartados 13-19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5074920"/>
            <a:ext cx="2651760" cy="1051560"/>
          </a:xfrm>
          <a:prstGeom prst="roundRect">
            <a:avLst>
              <a:gd name="adj" fmla="val 12000"/>
            </a:avLst>
          </a:prstGeom>
          <a:solidFill>
            <a:srgbClr val="1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77800" tIns="127000" rIns="127000" bIns="101600" rtlCol="0" anchor="ctr"/>
          <a:lstStyle/>
          <a:p>
            <a:pPr algn="l"/>
            <a:r>
              <a:rPr sz="1800" b="1">
                <a:solidFill>
                  <a:srgbClr val="E8A33D"/>
                </a:solidFill>
                <a:latin typeface="Cambria"/>
              </a:rPr>
              <a:t>Nivel</a:t>
            </a:r>
          </a:p>
          <a:p>
            <a:pPr algn="l"/>
            <a:r>
              <a:rPr sz="1100">
                <a:solidFill>
                  <a:srgbClr val="9FB3A6"/>
                </a:solidFill>
                <a:latin typeface="Calibri"/>
              </a:rPr>
              <a:t>Continuacion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02920"/>
            <a:ext cx="3095244" cy="310896"/>
          </a:xfrm>
          <a:prstGeom prst="roundRect">
            <a:avLst>
              <a:gd name="adj" fmla="val 50000"/>
            </a:avLst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Calibri"/>
              </a:rPr>
              <a:t>CLASE 2 · ANALISIS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9144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F2A24"/>
                </a:solidFill>
                <a:latin typeface="Cambria"/>
              </a:rPr>
              <a:t>Indice de la Clase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5440680" cy="2093976"/>
          </a:xfrm>
          <a:prstGeom prst="roundRect">
            <a:avLst>
              <a:gd name="adj" fmla="val 6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79"/>
            <a:ext cx="4892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F7B3E"/>
                </a:solidFill>
                <a:latin typeface="Calibri"/>
              </a:rPr>
              <a:t>Presentar y revisar</a:t>
            </a:r>
          </a:p>
        </p:txBody>
      </p:sp>
      <p:sp>
        <p:nvSpPr>
          <p:cNvPr id="6" name="Oval 5"/>
          <p:cNvSpPr/>
          <p:nvPr/>
        </p:nvSpPr>
        <p:spPr>
          <a:xfrm>
            <a:off x="877824" y="2377439"/>
            <a:ext cx="292608" cy="292608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377439"/>
            <a:ext cx="45262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F2A24"/>
                </a:solidFill>
                <a:latin typeface="Calibri"/>
              </a:rPr>
              <a:t>Tablas y graficos</a:t>
            </a:r>
          </a:p>
        </p:txBody>
      </p:sp>
      <p:sp>
        <p:nvSpPr>
          <p:cNvPr id="8" name="Oval 7"/>
          <p:cNvSpPr/>
          <p:nvPr/>
        </p:nvSpPr>
        <p:spPr>
          <a:xfrm>
            <a:off x="877824" y="2724911"/>
            <a:ext cx="292608" cy="292608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724911"/>
            <a:ext cx="45262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F2A24"/>
                </a:solidFill>
                <a:latin typeface="Calibri"/>
              </a:rPr>
              <a:t>Revisar y vista</a:t>
            </a:r>
          </a:p>
        </p:txBody>
      </p:sp>
      <p:sp>
        <p:nvSpPr>
          <p:cNvPr id="10" name="Oval 9"/>
          <p:cNvSpPr/>
          <p:nvPr/>
        </p:nvSpPr>
        <p:spPr>
          <a:xfrm>
            <a:off x="877824" y="3072383"/>
            <a:ext cx="292608" cy="292608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072383"/>
            <a:ext cx="45262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F2A24"/>
                </a:solidFill>
                <a:latin typeface="Calibri"/>
              </a:rPr>
              <a:t>Referencias abs./rel.</a:t>
            </a:r>
          </a:p>
        </p:txBody>
      </p:sp>
      <p:sp>
        <p:nvSpPr>
          <p:cNvPr id="12" name="Oval 11"/>
          <p:cNvSpPr/>
          <p:nvPr/>
        </p:nvSpPr>
        <p:spPr>
          <a:xfrm>
            <a:off x="877824" y="3419855"/>
            <a:ext cx="292608" cy="292608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419855"/>
            <a:ext cx="45262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F2A24"/>
                </a:solidFill>
                <a:latin typeface="Calibri"/>
              </a:rPr>
              <a:t>La funcion SI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1874519"/>
            <a:ext cx="5440680" cy="2093976"/>
          </a:xfrm>
          <a:prstGeom prst="roundRect">
            <a:avLst>
              <a:gd name="adj" fmla="val 6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12280" y="2011679"/>
            <a:ext cx="4892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F7B3E"/>
                </a:solidFill>
                <a:latin typeface="Calibri"/>
              </a:rPr>
              <a:t>Analizar y limpiar</a:t>
            </a:r>
          </a:p>
        </p:txBody>
      </p:sp>
      <p:sp>
        <p:nvSpPr>
          <p:cNvPr id="16" name="Oval 15"/>
          <p:cNvSpPr/>
          <p:nvPr/>
        </p:nvSpPr>
        <p:spPr>
          <a:xfrm>
            <a:off x="6775704" y="2377439"/>
            <a:ext cx="292608" cy="292608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2377439"/>
            <a:ext cx="45262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F2A24"/>
                </a:solidFill>
                <a:latin typeface="Calibri"/>
              </a:rPr>
              <a:t>Formato condicional</a:t>
            </a:r>
          </a:p>
        </p:txBody>
      </p:sp>
      <p:sp>
        <p:nvSpPr>
          <p:cNvPr id="18" name="Oval 17"/>
          <p:cNvSpPr/>
          <p:nvPr/>
        </p:nvSpPr>
        <p:spPr>
          <a:xfrm>
            <a:off x="6775704" y="2724911"/>
            <a:ext cx="292608" cy="292608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2724911"/>
            <a:ext cx="45262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F2A24"/>
                </a:solidFill>
                <a:latin typeface="Calibri"/>
              </a:rPr>
              <a:t>Tablas dinamicas</a:t>
            </a:r>
          </a:p>
        </p:txBody>
      </p:sp>
      <p:sp>
        <p:nvSpPr>
          <p:cNvPr id="20" name="Oval 19"/>
          <p:cNvSpPr/>
          <p:nvPr/>
        </p:nvSpPr>
        <p:spPr>
          <a:xfrm>
            <a:off x="6775704" y="3072383"/>
            <a:ext cx="292608" cy="292608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072383"/>
            <a:ext cx="45262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F2A24"/>
                </a:solidFill>
                <a:latin typeface="Calibri"/>
              </a:rPr>
              <a:t>Funciones de texto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2 · ANALISIS DE DATOS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863840" y="-2743200"/>
            <a:ext cx="7315200" cy="7315200"/>
          </a:xfrm>
          <a:prstGeom prst="ellipse">
            <a:avLst/>
          </a:prstGeom>
          <a:solidFill>
            <a:srgbClr val="1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" y="2148840"/>
            <a:ext cx="1371600" cy="137160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4400" b="1">
                <a:solidFill>
                  <a:srgbClr val="132019"/>
                </a:solidFill>
                <a:latin typeface="Cambria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2331720"/>
            <a:ext cx="877824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Tablas y graficos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42032" y="3429000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CFE3D6"/>
                </a:solidFill>
                <a:latin typeface="Calibri"/>
              </a:rPr>
              <a:t>Organizar los datos como tabla de Excel y representarlos visualmente con graficos.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FB3A6"/>
                </a:solidFill>
                <a:latin typeface="Calibri"/>
              </a:rPr>
              <a:t>CLASE 2 · ANALISIS DE DATOS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886968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TABLAS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Crear una tabla y sus ventajas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502920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Como crearla: </a:t>
            </a:r>
            <a:r>
              <a:rPr sz="1600">
                <a:solidFill>
                  <a:srgbClr val="1F2A24"/>
                </a:solidFill>
                <a:latin typeface="Calibri"/>
              </a:rPr>
              <a:t>seleccionar el rango &gt; Insertar &gt; Tabla, confirmando los encabezados.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Resultado: </a:t>
            </a:r>
            <a:r>
              <a:rPr sz="1600">
                <a:solidFill>
                  <a:srgbClr val="1F2A24"/>
                </a:solidFill>
                <a:latin typeface="Calibri"/>
              </a:rPr>
              <a:t>Excel aplica formato y habilita nuevas herramientas automaticamente.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67335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A4F2A"/>
                </a:solidFill>
                <a:latin typeface="Calibri"/>
              </a:rPr>
              <a:t>Ventajas frente a un rango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2075688"/>
            <a:ext cx="502920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Formato uniforme </a:t>
            </a:r>
            <a:r>
              <a:rPr sz="1600">
                <a:solidFill>
                  <a:srgbClr val="1F2A24"/>
                </a:solidFill>
                <a:latin typeface="Calibri"/>
              </a:rPr>
              <a:t>automatico.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Ordenar y filtrar </a:t>
            </a:r>
            <a:r>
              <a:rPr sz="1600">
                <a:solidFill>
                  <a:srgbClr val="1F2A24"/>
                </a:solidFill>
                <a:latin typeface="Calibri"/>
              </a:rPr>
              <a:t>con un clic.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Actualizacion automatica </a:t>
            </a:r>
            <a:r>
              <a:rPr sz="1600">
                <a:solidFill>
                  <a:srgbClr val="1F2A24"/>
                </a:solidFill>
                <a:latin typeface="Calibri"/>
              </a:rPr>
              <a:t>al añadir registros.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2 · ANALISIS DE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886968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TABLAS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Referencias de tabla: [ ] y @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5029200" cy="241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Corchetes [ ]: </a:t>
            </a:r>
            <a:r>
              <a:rPr sz="1600">
                <a:solidFill>
                  <a:srgbClr val="1F2A24"/>
                </a:solidFill>
                <a:latin typeface="Calibri"/>
              </a:rPr>
              <a:t>referencian una columna completa de la tabla, por ejemplo Tabla1[Precio].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Arroba @: </a:t>
            </a:r>
            <a:r>
              <a:rPr sz="1600">
                <a:solidFill>
                  <a:srgbClr val="1F2A24"/>
                </a:solidFill>
                <a:latin typeface="Calibri"/>
              </a:rPr>
              <a:t>indica la fila actual, por ejemplo [@Precio] toma el valor de esa columna en la misma fila.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67335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A4F2A"/>
                </a:solidFill>
                <a:latin typeface="Calibri"/>
              </a:rPr>
              <a:t>Ejemplo practico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2075688"/>
            <a:ext cx="5029200" cy="18396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 dirty="0">
                <a:solidFill>
                  <a:srgbClr val="1F2A24"/>
                </a:solidFill>
                <a:latin typeface="Calibri"/>
              </a:rPr>
              <a:t>Formula: </a:t>
            </a:r>
            <a:r>
              <a:rPr sz="1600" dirty="0">
                <a:solidFill>
                  <a:srgbClr val="1F2A24"/>
                </a:solidFill>
                <a:latin typeface="Calibri"/>
              </a:rPr>
              <a:t>=[@Precio]*[@Cantidad] </a:t>
            </a:r>
            <a:r>
              <a:rPr sz="1600" dirty="0" err="1">
                <a:solidFill>
                  <a:srgbClr val="1F2A24"/>
                </a:solidFill>
                <a:latin typeface="Calibri"/>
              </a:rPr>
              <a:t>calcula</a:t>
            </a:r>
            <a:r>
              <a:rPr sz="1600" dirty="0">
                <a:solidFill>
                  <a:srgbClr val="1F2A24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1F2A24"/>
                </a:solidFill>
                <a:latin typeface="Calibri"/>
              </a:rPr>
              <a:t>el</a:t>
            </a:r>
            <a:r>
              <a:rPr sz="1600" dirty="0">
                <a:solidFill>
                  <a:srgbClr val="1F2A24"/>
                </a:solidFill>
                <a:latin typeface="Calibri"/>
              </a:rPr>
              <a:t> total de </a:t>
            </a:r>
            <a:r>
              <a:rPr sz="1600" dirty="0" err="1">
                <a:solidFill>
                  <a:srgbClr val="1F2A24"/>
                </a:solidFill>
                <a:latin typeface="Calibri"/>
              </a:rPr>
              <a:t>cada</a:t>
            </a:r>
            <a:r>
              <a:rPr sz="1600" dirty="0">
                <a:solidFill>
                  <a:srgbClr val="1F2A24"/>
                </a:solidFill>
                <a:latin typeface="Calibri"/>
              </a:rPr>
              <a:t> fila.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 dirty="0" err="1">
                <a:solidFill>
                  <a:srgbClr val="1F2A24"/>
                </a:solidFill>
                <a:latin typeface="Calibri"/>
              </a:rPr>
              <a:t>Columna</a:t>
            </a:r>
            <a:r>
              <a:rPr sz="1600" b="1" dirty="0">
                <a:solidFill>
                  <a:srgbClr val="1F2A24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F2A24"/>
                </a:solidFill>
                <a:latin typeface="Calibri"/>
              </a:rPr>
              <a:t>completa</a:t>
            </a:r>
            <a:r>
              <a:rPr sz="1600" b="1" dirty="0">
                <a:solidFill>
                  <a:srgbClr val="1F2A24"/>
                </a:solidFill>
                <a:latin typeface="Calibri"/>
              </a:rPr>
              <a:t>: </a:t>
            </a:r>
            <a:r>
              <a:rPr sz="1600" dirty="0">
                <a:solidFill>
                  <a:srgbClr val="1F2A24"/>
                </a:solidFill>
                <a:latin typeface="Calibri"/>
              </a:rPr>
              <a:t>Tabla1[</a:t>
            </a:r>
            <a:r>
              <a:rPr sz="1600" dirty="0" err="1">
                <a:solidFill>
                  <a:srgbClr val="1F2A24"/>
                </a:solidFill>
                <a:latin typeface="Calibri"/>
              </a:rPr>
              <a:t>Precio</a:t>
            </a:r>
            <a:r>
              <a:rPr sz="1600" dirty="0">
                <a:solidFill>
                  <a:srgbClr val="1F2A24"/>
                </a:solidFill>
                <a:latin typeface="Calibri"/>
              </a:rPr>
              <a:t>] </a:t>
            </a:r>
            <a:r>
              <a:rPr sz="1600" dirty="0" err="1">
                <a:solidFill>
                  <a:srgbClr val="1F2A24"/>
                </a:solidFill>
                <a:latin typeface="Calibri"/>
              </a:rPr>
              <a:t>devuelve</a:t>
            </a:r>
            <a:r>
              <a:rPr sz="1600" dirty="0">
                <a:solidFill>
                  <a:srgbClr val="1F2A24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1F2A24"/>
                </a:solidFill>
                <a:latin typeface="Calibri"/>
              </a:rPr>
              <a:t>todos</a:t>
            </a:r>
            <a:r>
              <a:rPr sz="1600" dirty="0">
                <a:solidFill>
                  <a:srgbClr val="1F2A24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1F2A24"/>
                </a:solidFill>
                <a:latin typeface="Calibri"/>
              </a:rPr>
              <a:t>los</a:t>
            </a:r>
            <a:r>
              <a:rPr sz="1600" dirty="0">
                <a:solidFill>
                  <a:srgbClr val="1F2A24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1F2A24"/>
                </a:solidFill>
                <a:latin typeface="Calibri"/>
              </a:rPr>
              <a:t>valores</a:t>
            </a:r>
            <a:r>
              <a:rPr sz="1600" dirty="0">
                <a:solidFill>
                  <a:srgbClr val="1F2A24"/>
                </a:solidFill>
                <a:latin typeface="Calibri"/>
              </a:rPr>
              <a:t> de </a:t>
            </a:r>
            <a:r>
              <a:rPr sz="1600" dirty="0" err="1">
                <a:solidFill>
                  <a:srgbClr val="1F2A24"/>
                </a:solidFill>
                <a:latin typeface="Calibri"/>
              </a:rPr>
              <a:t>esa</a:t>
            </a:r>
            <a:r>
              <a:rPr sz="1600" dirty="0">
                <a:solidFill>
                  <a:srgbClr val="1F2A24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1F2A24"/>
                </a:solidFill>
                <a:latin typeface="Calibri"/>
              </a:rPr>
              <a:t>columna</a:t>
            </a:r>
            <a:r>
              <a:rPr sz="1600" dirty="0">
                <a:solidFill>
                  <a:srgbClr val="1F2A24"/>
                </a:solidFill>
                <a:latin typeface="Calibri"/>
              </a:rPr>
              <a:t>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 dirty="0" err="1">
                <a:solidFill>
                  <a:srgbClr val="1F2A24"/>
                </a:solidFill>
                <a:latin typeface="Calibri"/>
              </a:rPr>
              <a:t>Ventaja</a:t>
            </a:r>
            <a:r>
              <a:rPr sz="1600" b="1" dirty="0">
                <a:solidFill>
                  <a:srgbClr val="1F2A24"/>
                </a:solidFill>
                <a:latin typeface="Calibri"/>
              </a:rPr>
              <a:t>: </a:t>
            </a:r>
            <a:r>
              <a:rPr lang="es-ES" sz="1600" dirty="0">
                <a:solidFill>
                  <a:srgbClr val="1F2A24"/>
                </a:solidFill>
                <a:latin typeface="Calibri"/>
              </a:rPr>
              <a:t>Utilizar referencias actualiza la entrada de nuevos datos</a:t>
            </a:r>
            <a:r>
              <a:rPr sz="1600" dirty="0">
                <a:solidFill>
                  <a:srgbClr val="1F2A24"/>
                </a:solidFill>
                <a:latin typeface="Calibr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2 · ANALISIS DE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14</a:t>
            </a:r>
          </a:p>
        </p:txBody>
      </p:sp>
      <p:sp>
        <p:nvSpPr>
          <p:cNvPr id="10" name="Example Panel">
            <a:extLst>
              <a:ext uri="{FF2B5EF4-FFF2-40B4-BE49-F238E27FC236}">
                <a16:creationId xmlns:a16="http://schemas.microsoft.com/office/drawing/2014/main" id="{F3C6CB88-8F5A-4C47-B1AC-7131FE0295C3}"/>
              </a:ext>
            </a:extLst>
          </p:cNvPr>
          <p:cNvSpPr/>
          <p:nvPr/>
        </p:nvSpPr>
        <p:spPr>
          <a:xfrm>
            <a:off x="927100" y="4254500"/>
            <a:ext cx="10363200" cy="1841500"/>
          </a:xfrm>
          <a:prstGeom prst="roundRect">
            <a:avLst/>
          </a:prstGeom>
          <a:solidFill>
            <a:srgbClr val="F2F7F4"/>
          </a:solidFill>
          <a:ln w="12700" cap="flat" cmpd="sng" algn="ctr">
            <a:solidFill>
              <a:srgbClr val="CFE3D6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0A4F2A"/>
                </a:solidFill>
                <a:latin typeface="Calibri"/>
              </a:rPr>
              <a:t>Ejemplo en la tabla</a:t>
            </a:r>
          </a:p>
          <a:p>
            <a:pPr marL="256032" indent="-201168" algn="l">
              <a:lnSpc>
                <a:spcPct val="108000"/>
              </a:lnSpc>
              <a:spcAft>
                <a:spcPts val="6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Fila: </a:t>
            </a:r>
            <a:r>
              <a:rPr sz="1600">
                <a:solidFill>
                  <a:srgbClr val="1F2A24"/>
                </a:solidFill>
                <a:latin typeface="Calibri"/>
              </a:rPr>
              <a:t>Teclado, Precio 20 €, Cantidad 3.</a:t>
            </a:r>
          </a:p>
          <a:p>
            <a:pPr marL="256032" indent="-201168" algn="l">
              <a:lnSpc>
                <a:spcPct val="108000"/>
              </a:lnSpc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Celda Total: </a:t>
            </a:r>
            <a:r>
              <a:rPr sz="1600">
                <a:solidFill>
                  <a:srgbClr val="1F2A24"/>
                </a:solidFill>
                <a:latin typeface="Calibri"/>
              </a:rPr>
              <a:t>=[@Precio]*[@Cantidad] → 60 €.</a:t>
            </a:r>
          </a:p>
        </p:txBody>
      </p:sp>
    </p:spTree>
    <p:extLst>
      <p:ext uri="{BB962C8B-B14F-4D97-AF65-F5344CB8AC3E}">
        <p14:creationId xmlns:p14="http://schemas.microsoft.com/office/powerpoint/2010/main" val="998511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886968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TABLAS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Ordenar y filtrar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722376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Botones de filtrado: </a:t>
            </a:r>
            <a:r>
              <a:rPr sz="1600">
                <a:solidFill>
                  <a:srgbClr val="1F2A24"/>
                </a:solidFill>
                <a:latin typeface="Calibri"/>
              </a:rPr>
              <a:t>aparecen automaticamente en los encabezados de la tabla.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Ordenar: </a:t>
            </a:r>
            <a:r>
              <a:rPr sz="1600">
                <a:solidFill>
                  <a:srgbClr val="1F2A24"/>
                </a:solidFill>
                <a:latin typeface="Calibri"/>
              </a:rPr>
              <a:t>organiza los datos de forma ascendente o descendente.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Filtros: </a:t>
            </a:r>
            <a:r>
              <a:rPr sz="1600">
                <a:solidFill>
                  <a:srgbClr val="1F2A24"/>
                </a:solidFill>
                <a:latin typeface="Calibri"/>
              </a:rPr>
              <a:t>muestran solo los registros que cumplen una condicion, sin modificar los datos originales.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9235440" y="214884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772650" y="214884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309860" y="214884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847070" y="214884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235440" y="271272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772650" y="271272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309860" y="2712720"/>
            <a:ext cx="508635" cy="535305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847070" y="271272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235440" y="327660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772650" y="327660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309860" y="327660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847070" y="327660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2 · ANALISIS DE DATOS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GRAFICOS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Crear un grafico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1033272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>
                <a:solidFill>
                  <a:srgbClr val="1F2A24"/>
                </a:solidFill>
                <a:latin typeface="Calibri"/>
              </a:rPr>
              <a:t>Seleccionar los datos que se desean representar.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>
                <a:solidFill>
                  <a:srgbClr val="1F2A24"/>
                </a:solidFill>
                <a:latin typeface="Calibri"/>
              </a:rPr>
              <a:t>Acceder a la pestaña Insertar.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>
                <a:solidFill>
                  <a:srgbClr val="1F2A24"/>
                </a:solidFill>
                <a:latin typeface="Calibri"/>
              </a:rPr>
              <a:t>Elegir el tipo de grafico mas adecuado para esos datos.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>
                <a:solidFill>
                  <a:srgbClr val="1F2A24"/>
                </a:solidFill>
                <a:latin typeface="Calibri"/>
              </a:rPr>
              <a:t>Personalizar el diseño si es necesario; Excel lo inserta en la hoja.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2 · ANALISIS DE 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GRAFICOS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Tipos de grafico y cuando usarlos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32688" y="1737360"/>
          <a:ext cx="103327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6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6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Tipo de grafico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Uso recomendado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Columnas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Comparar cantidades entre categorias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Barras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Comparar datos cuando las etiquetas son largas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Lineas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Mostrar la evolucion en el tiempo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Circular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Representar porcentajes o partes de un total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Areas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Mostrar la evolucion acumulada de una serie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2 · ANALISIS DE 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GRAFICOS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Modificar un grafico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1033272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>
                <a:solidFill>
                  <a:srgbClr val="1F2A24"/>
                </a:solidFill>
                <a:latin typeface="Calibri"/>
              </a:rPr>
              <a:t>Cambiar el titulo del grafico.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>
                <a:solidFill>
                  <a:srgbClr val="1F2A24"/>
                </a:solidFill>
                <a:latin typeface="Calibri"/>
              </a:rPr>
              <a:t>Modificar los colores y añadir leyendas.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>
                <a:solidFill>
                  <a:srgbClr val="1F2A24"/>
                </a:solidFill>
                <a:latin typeface="Calibri"/>
              </a:rPr>
              <a:t>Mostrar etiquetas de datos sobre las barras o puntos.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>
                <a:solidFill>
                  <a:srgbClr val="1F2A24"/>
                </a:solidFill>
                <a:latin typeface="Calibri"/>
              </a:rPr>
              <a:t>Cambiar el tipo de grafico en cualquier momento.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2 · ANALISIS DE 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886968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TABLAS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La fila de totales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722376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Que es: </a:t>
            </a:r>
            <a:r>
              <a:rPr sz="1600">
                <a:solidFill>
                  <a:srgbClr val="1F2A24"/>
                </a:solidFill>
                <a:latin typeface="Calibri"/>
              </a:rPr>
              <a:t>una fila que se añade al pie de la tabla para resumir cada columna, sin escribir formulas.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Como activarla: </a:t>
            </a:r>
            <a:r>
              <a:rPr sz="1600">
                <a:solidFill>
                  <a:srgbClr val="1F2A24"/>
                </a:solidFill>
                <a:latin typeface="Calibri"/>
              </a:rPr>
              <a:t>seleccionar una celda de la tabla &gt; pestaña Diseño de tabla &gt; marcar “Fila de totales”.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Al filtrar: </a:t>
            </a:r>
            <a:r>
              <a:rPr sz="1600">
                <a:solidFill>
                  <a:srgbClr val="1F2A24"/>
                </a:solidFill>
                <a:latin typeface="Calibri"/>
              </a:rPr>
              <a:t>el total se actualiza mostrando solo los registros visibles.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9235440" y="214884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772650" y="214884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309860" y="214884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847070" y="214884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235440" y="271272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772650" y="271272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309860" y="2712720"/>
            <a:ext cx="508635" cy="535305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847070" y="271272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235440" y="327660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772650" y="327660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309860" y="327660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847070" y="327660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2 · ANALISIS DE DATOS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886968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TABLAS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Funciones disponibles en la fila de totales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32688" y="1737360"/>
          <a:ext cx="103327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6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6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Funcion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Resultado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Suma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Total de los valores numericos de la columna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Promedio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Media aritmetica de los valores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Recuento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Numero de celdas con contenido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Maximo / Minimo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Valor mas alto o mas bajo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32688" y="4480560"/>
            <a:ext cx="10332720" cy="548640"/>
          </a:xfrm>
          <a:prstGeom prst="roundRect">
            <a:avLst>
              <a:gd name="adj" fmla="val 12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77800" tIns="50800" rIns="177800" bIns="50800" rtlCol="0" anchor="ctr"/>
          <a:lstStyle/>
          <a:p>
            <a:pPr algn="ctr"/>
            <a:r>
              <a:rPr sz="1250" i="1">
                <a:solidFill>
                  <a:srgbClr val="5B6B62"/>
                </a:solidFill>
                <a:latin typeface="Calibri"/>
              </a:rPr>
              <a:t>Cada columna puede tener una funcion distinta: por ejemplo, suma en Importe y recuento en Producto.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2 · ANALISIS DE DATOS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2011680" y="3840480"/>
            <a:ext cx="5486400" cy="5486400"/>
          </a:xfrm>
          <a:prstGeom prst="ellipse">
            <a:avLst/>
          </a:prstGeom>
          <a:solidFill>
            <a:srgbClr val="1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200" b="1">
                <a:solidFill>
                  <a:srgbClr val="132019"/>
                </a:solidFill>
                <a:latin typeface="Cambria"/>
              </a:rPr>
              <a:t>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566928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132019"/>
                </a:solidFill>
                <a:latin typeface="Calibri"/>
              </a:rPr>
              <a:t>EJERCICIO PRACTICO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3327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mbria"/>
              </a:rPr>
              <a:t>Ejercicio practico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1033272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E8A33D"/>
                </a:solidFill>
                <a:latin typeface="Calibri"/>
              </a:rPr>
              <a:t>1.  </a:t>
            </a:r>
            <a:r>
              <a:rPr sz="1600">
                <a:solidFill>
                  <a:srgbClr val="EAF3EC"/>
                </a:solidFill>
                <a:latin typeface="Calibri"/>
              </a:rPr>
              <a:t>Convertir el rango de datos en tabla de Excel desde Insertar &gt; Tabla.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E8A33D"/>
                </a:solidFill>
                <a:latin typeface="Calibri"/>
              </a:rPr>
              <a:t>2.  </a:t>
            </a:r>
            <a:r>
              <a:rPr sz="1600">
                <a:solidFill>
                  <a:srgbClr val="EAF3EC"/>
                </a:solidFill>
                <a:latin typeface="Calibri"/>
              </a:rPr>
              <a:t>Filtrar la columna “Categoria” para mostrar solo una categoria concreta.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E8A33D"/>
                </a:solidFill>
                <a:latin typeface="Calibri"/>
              </a:rPr>
              <a:t>3.  </a:t>
            </a:r>
            <a:r>
              <a:rPr sz="1600">
                <a:solidFill>
                  <a:srgbClr val="EAF3EC"/>
                </a:solidFill>
                <a:latin typeface="Calibri"/>
              </a:rPr>
              <a:t>Activar la fila de totales: SUMA en “Valor en stock”, PROMEDIO en “Precio unitario”.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E8A33D"/>
                </a:solidFill>
                <a:latin typeface="Calibri"/>
              </a:rPr>
              <a:t>4.  </a:t>
            </a:r>
            <a:r>
              <a:rPr sz="1600">
                <a:solidFill>
                  <a:srgbClr val="EAF3EC"/>
                </a:solidFill>
                <a:latin typeface="Calibri"/>
              </a:rPr>
              <a:t>Seleccionar Producto y Valor en stock e insertar un grafico de columnas con titulo.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FB3A6"/>
                </a:solidFill>
                <a:latin typeface="Calibri"/>
              </a:rPr>
              <a:t>CLASE 2 · ANALISIS DE DATOS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FB3A6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863840" y="-2743200"/>
            <a:ext cx="7315200" cy="7315200"/>
          </a:xfrm>
          <a:prstGeom prst="ellipse">
            <a:avLst/>
          </a:prstGeom>
          <a:solidFill>
            <a:srgbClr val="1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" y="2148840"/>
            <a:ext cx="1371600" cy="137160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4400" b="1">
                <a:solidFill>
                  <a:srgbClr val="132019"/>
                </a:solidFill>
                <a:latin typeface="Cambria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2331720"/>
            <a:ext cx="877824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Revisar y vista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42032" y="3429000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CFE3D6"/>
                </a:solidFill>
                <a:latin typeface="Calibri"/>
              </a:rPr>
              <a:t>Comprobar, proteger y adaptar la visualizacion de la hoja antes de darla por terminada.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FB3A6"/>
                </a:solidFill>
                <a:latin typeface="Calibri"/>
              </a:rPr>
              <a:t>CLASE 2 · ANALISIS DE DATOS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992124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REVISAR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Ortografia y comentarios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502920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Ortografia: </a:t>
            </a:r>
            <a:r>
              <a:rPr sz="1600">
                <a:solidFill>
                  <a:srgbClr val="1F2A24"/>
                </a:solidFill>
                <a:latin typeface="Calibri"/>
              </a:rPr>
              <a:t>pestaña Revisar &gt; Ortografia; recorre las celdas de texto y propone correcciones.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67335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A4F2A"/>
                </a:solidFill>
                <a:latin typeface="Calibri"/>
              </a:rPr>
              <a:t>Comentarios y notas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2075688"/>
            <a:ext cx="502920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Para que sirven: </a:t>
            </a:r>
            <a:r>
              <a:rPr sz="1600">
                <a:solidFill>
                  <a:srgbClr val="1F2A24"/>
                </a:solidFill>
                <a:latin typeface="Calibri"/>
              </a:rPr>
              <a:t>añadir aclaraciones a una celda sin modificar su contenido.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Muy util: </a:t>
            </a:r>
            <a:r>
              <a:rPr sz="1600">
                <a:solidFill>
                  <a:srgbClr val="1F2A24"/>
                </a:solidFill>
                <a:latin typeface="Calibri"/>
              </a:rPr>
              <a:t>cuando varias personas trabajan sobre el mismo libro.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2 · ANALISIS DE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1307592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PROTECCION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Proteger hojas y libros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722376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>
                <a:solidFill>
                  <a:srgbClr val="1F2A24"/>
                </a:solidFill>
                <a:latin typeface="Calibri"/>
              </a:rPr>
              <a:t>Proteger una hoja para impedir cambios en su contenido.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>
                <a:solidFill>
                  <a:srgbClr val="1F2A24"/>
                </a:solidFill>
                <a:latin typeface="Calibri"/>
              </a:rPr>
              <a:t>Proteger la estructura del libro (evita añadir, eliminar o mover hojas).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>
                <a:solidFill>
                  <a:srgbClr val="1F2A24"/>
                </a:solidFill>
                <a:latin typeface="Calibri"/>
              </a:rPr>
              <a:t>Establecer una contraseña para limitar el acceso a ciertas funciones.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9235440" y="214884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772650" y="214884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309860" y="214884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847070" y="214884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235440" y="271272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772650" y="271272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309860" y="2712720"/>
            <a:ext cx="508635" cy="535305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847070" y="271272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235440" y="327660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772650" y="327660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309860" y="327660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847070" y="327660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2 · ANALISIS DE DATOS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781812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VISTA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Opciones de visualizacion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32688" y="1737360"/>
          <a:ext cx="103327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6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6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Opcion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Utilidad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Normal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Vista habitual de trabajo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Diseño de pagina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Muestra el aspecto que tendra al imprimirse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Vista previa de salto de pagina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Ajusta la distribucion de la impresion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2 · ANALISIS DE 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781812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VISTA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Zoom e inmovilizar paneles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502920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Zoom: </a:t>
            </a:r>
            <a:r>
              <a:rPr sz="1600">
                <a:solidFill>
                  <a:srgbClr val="1F2A24"/>
                </a:solidFill>
                <a:latin typeface="Calibri"/>
              </a:rPr>
              <a:t>aumenta o reduce el tamaño de visualizacion, sin afectar al contenido ni a la impresion.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67335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A4F2A"/>
                </a:solidFill>
                <a:latin typeface="Calibri"/>
              </a:rPr>
              <a:t>Inmovilizar paneles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2075688"/>
            <a:ext cx="502920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Para que sirve: </a:t>
            </a:r>
            <a:r>
              <a:rPr sz="1600">
                <a:solidFill>
                  <a:srgbClr val="1F2A24"/>
                </a:solidFill>
                <a:latin typeface="Calibri"/>
              </a:rPr>
              <a:t>mantener visibles ciertas filas o columnas al desplazarse.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Ejemplo tipico: </a:t>
            </a:r>
            <a:r>
              <a:rPr sz="1600">
                <a:solidFill>
                  <a:srgbClr val="1F2A24"/>
                </a:solidFill>
                <a:latin typeface="Calibri"/>
              </a:rPr>
              <a:t>inmovilizar la primera fila para ver siempre los titulos.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2 · ANALISIS DE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781812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VISTA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Mostrar u ocultar elementos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1033272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>
                <a:solidFill>
                  <a:srgbClr val="1F2A24"/>
                </a:solidFill>
                <a:latin typeface="Calibri"/>
              </a:rPr>
              <a:t>Lineas de cuadricula.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>
                <a:solidFill>
                  <a:srgbClr val="1F2A24"/>
                </a:solidFill>
                <a:latin typeface="Calibri"/>
              </a:rPr>
              <a:t>Encabezados de filas y columnas.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>
                <a:solidFill>
                  <a:srgbClr val="1F2A24"/>
                </a:solidFill>
                <a:latin typeface="Calibri"/>
              </a:rPr>
              <a:t>Barra de formulas.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>
                <a:solidFill>
                  <a:srgbClr val="1F2A24"/>
                </a:solidFill>
                <a:latin typeface="Calibri"/>
              </a:rPr>
              <a:t>Estas opciones adaptan el entorno de trabajo o preparan el documento para imprimir o presentar.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2 · ANALISIS DE 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2011680" y="3840480"/>
            <a:ext cx="5486400" cy="5486400"/>
          </a:xfrm>
          <a:prstGeom prst="ellipse">
            <a:avLst/>
          </a:prstGeom>
          <a:solidFill>
            <a:srgbClr val="1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200" b="1">
                <a:solidFill>
                  <a:srgbClr val="132019"/>
                </a:solidFill>
                <a:latin typeface="Cambria"/>
              </a:rPr>
              <a:t>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566928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132019"/>
                </a:solidFill>
                <a:latin typeface="Calibri"/>
              </a:rPr>
              <a:t>EJERCICIO PRACTICO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3327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mbria"/>
              </a:rPr>
              <a:t>Ejercicio practico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1033272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E8A33D"/>
                </a:solidFill>
                <a:latin typeface="Calibri"/>
              </a:rPr>
              <a:t>1.  </a:t>
            </a:r>
            <a:r>
              <a:rPr sz="1600">
                <a:solidFill>
                  <a:srgbClr val="EAF3EC"/>
                </a:solidFill>
                <a:latin typeface="Calibri"/>
              </a:rPr>
              <a:t>Añadir una nota en la celda del producto con mayor valor en stock explicando por que destaca.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E8A33D"/>
                </a:solidFill>
                <a:latin typeface="Calibri"/>
              </a:rPr>
              <a:t>2.  </a:t>
            </a:r>
            <a:r>
              <a:rPr sz="1600">
                <a:solidFill>
                  <a:srgbClr val="EAF3EC"/>
                </a:solidFill>
                <a:latin typeface="Calibri"/>
              </a:rPr>
              <a:t>Inmovilizar la primera fila para que los encabezados permanezcan visibles al desplazarse.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E8A33D"/>
                </a:solidFill>
                <a:latin typeface="Calibri"/>
              </a:rPr>
              <a:t>3.  </a:t>
            </a:r>
            <a:r>
              <a:rPr sz="1600">
                <a:solidFill>
                  <a:srgbClr val="EAF3EC"/>
                </a:solidFill>
                <a:latin typeface="Calibri"/>
              </a:rPr>
              <a:t>Proteger la hoja con contraseña para evitar modificaciones accidentales.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E8A33D"/>
                </a:solidFill>
                <a:latin typeface="Calibri"/>
              </a:rPr>
              <a:t>4.  </a:t>
            </a:r>
            <a:r>
              <a:rPr sz="1600">
                <a:solidFill>
                  <a:srgbClr val="EAF3EC"/>
                </a:solidFill>
                <a:latin typeface="Calibri"/>
              </a:rPr>
              <a:t>Explorar las vistas Normal y Diseño de pagina, y ajustar el zoom al 80% y de vuelta al 100%.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FB3A6"/>
                </a:solidFill>
                <a:latin typeface="Calibri"/>
              </a:rPr>
              <a:t>CLASE 2 · ANALISIS DE DATOS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FB3A6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863840" y="-2743200"/>
            <a:ext cx="7315200" cy="7315200"/>
          </a:xfrm>
          <a:prstGeom prst="ellipse">
            <a:avLst/>
          </a:prstGeom>
          <a:solidFill>
            <a:srgbClr val="1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" y="2148840"/>
            <a:ext cx="1371600" cy="137160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4400" b="1">
                <a:solidFill>
                  <a:srgbClr val="132019"/>
                </a:solidFill>
                <a:latin typeface="Cambria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2331720"/>
            <a:ext cx="877824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Referencias absolutas y relativas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42032" y="3429000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CFE3D6"/>
                </a:solidFill>
                <a:latin typeface="Calibri"/>
              </a:rPr>
              <a:t>La clave para copiar formulas sin errores y construir hojas realmente flexibles.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FB3A6"/>
                </a:solidFill>
                <a:latin typeface="Calibri"/>
              </a:rPr>
              <a:t>CLASE 2 · ANALISIS DE DATOS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1202436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RELATIVAS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Referencias relativas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722376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Comportamiento por defecto: </a:t>
            </a:r>
            <a:r>
              <a:rPr sz="1600">
                <a:solidFill>
                  <a:srgbClr val="1F2A24"/>
                </a:solidFill>
                <a:latin typeface="Calibri"/>
              </a:rPr>
              <a:t>=A1+B1 no memoriza “A1 y B1”, sino la posicion relativa a la celda.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Al copiar: </a:t>
            </a:r>
            <a:r>
              <a:rPr sz="1600">
                <a:solidFill>
                  <a:srgbClr val="1F2A24"/>
                </a:solidFill>
                <a:latin typeface="Calibri"/>
              </a:rPr>
              <a:t>la formula se adapta automaticamente a la nueva fila o columna.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Ventaja: </a:t>
            </a:r>
            <a:r>
              <a:rPr sz="1600">
                <a:solidFill>
                  <a:srgbClr val="1F2A24"/>
                </a:solidFill>
                <a:latin typeface="Calibri"/>
              </a:rPr>
              <a:t>aplicar el mismo calculo a muchas filas escribiendo la formula una sola vez.</a:t>
            </a:r>
          </a:p>
        </p:txBody>
      </p:sp>
      <p:sp>
        <p:nvSpPr>
          <p:cNvPr id="6" name="Rectangle 5"/>
          <p:cNvSpPr/>
          <p:nvPr/>
        </p:nvSpPr>
        <p:spPr>
          <a:xfrm>
            <a:off x="9235440" y="214884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772650" y="214884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309860" y="214884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847070" y="214884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235440" y="271272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772650" y="271272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309860" y="2712720"/>
            <a:ext cx="508635" cy="535305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847070" y="271272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235440" y="327660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772650" y="327660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309860" y="327660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847070" y="327660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2 · ANALISIS DE DATOS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1202436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RELATIVAS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Como cambia la referencia al copiar hacia abajo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32688" y="1737360"/>
          <a:ext cx="103327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4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4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Celda con la formula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Formula original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Resultado al copiar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C2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=A2*B2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Se mantiene igual en C2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C3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=A3*B3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Se adapta automaticamente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C4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=A4*B4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Se adapta automaticamente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2 · ANALISIS DE 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B9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992124" cy="310896"/>
          </a:xfrm>
          <a:prstGeom prst="roundRect">
            <a:avLst>
              <a:gd name="adj" fmla="val 50000"/>
            </a:avLst>
          </a:prstGeom>
          <a:solidFill>
            <a:srgbClr val="B9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Calibri"/>
              </a:rPr>
              <a:t>EJEMPLO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2A24"/>
                </a:solidFill>
                <a:latin typeface="Cambria"/>
              </a:rPr>
              <a:t>Ejemplo: referencia absoluta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103327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F2A24"/>
                </a:solidFill>
                <a:latin typeface="Calibri"/>
              </a:rPr>
              <a:t>El IVA (21%) esta en la celda B1 y se quiere calcular el precio con IVA para varios productos.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2377440"/>
            <a:ext cx="10332720" cy="685800"/>
          </a:xfrm>
          <a:prstGeom prst="roundRect">
            <a:avLst>
              <a:gd name="adj" fmla="val 8000"/>
            </a:avLst>
          </a:prstGeom>
          <a:solidFill>
            <a:srgbClr val="132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76200" rIns="203200" bIns="76200" rtlCol="0" anchor="ctr"/>
          <a:lstStyle/>
          <a:p>
            <a:pPr algn="ctr"/>
            <a:r>
              <a:rPr sz="1800" b="1">
                <a:solidFill>
                  <a:srgbClr val="E8A33D"/>
                </a:solidFill>
                <a:latin typeface="Consolas"/>
              </a:rPr>
              <a:t>=A4*(1+$B$1)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3291840"/>
            <a:ext cx="103327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600"/>
              </a:spcAft>
              <a:buClr>
                <a:srgbClr val="B97A1F"/>
              </a:buClr>
              <a:buFont typeface="Arial"/>
              <a:buChar char="▪"/>
            </a:pPr>
            <a:r>
              <a:rPr sz="1450">
                <a:solidFill>
                  <a:srgbClr val="1F2A24"/>
                </a:solidFill>
                <a:latin typeface="Calibri"/>
              </a:rPr>
              <a:t>A4 es relativa: se actualiza al copiar la formula hacia abajo.</a:t>
            </a:r>
          </a:p>
          <a:p>
            <a:pPr marL="256032" indent="-201168" algn="l">
              <a:lnSpc>
                <a:spcPct val="108000"/>
              </a:lnSpc>
              <a:spcAft>
                <a:spcPts val="600"/>
              </a:spcAft>
              <a:buClr>
                <a:srgbClr val="B97A1F"/>
              </a:buClr>
              <a:buFont typeface="Arial"/>
              <a:buChar char="▪"/>
            </a:pPr>
            <a:r>
              <a:rPr sz="1450">
                <a:solidFill>
                  <a:srgbClr val="1F2A24"/>
                </a:solidFill>
                <a:latin typeface="Calibri"/>
              </a:rPr>
              <a:t>$B$1 es absoluta: permanece fija gracias al simbolo $.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5715000"/>
            <a:ext cx="1033272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3200" tIns="50800" rIns="203200" bIns="50800" rtlCol="0" anchor="ctr"/>
          <a:lstStyle/>
          <a:p>
            <a:pPr algn="ctr"/>
            <a:r>
              <a:rPr sz="1450" b="1">
                <a:solidFill>
                  <a:srgbClr val="0A4F2A"/>
                </a:solidFill>
                <a:latin typeface="Calibri"/>
              </a:rPr>
              <a:t>Resultado: </a:t>
            </a:r>
            <a:r>
              <a:rPr sz="1450">
                <a:solidFill>
                  <a:srgbClr val="1F2A24"/>
                </a:solidFill>
                <a:latin typeface="Calibri"/>
              </a:rPr>
              <a:t>Al copiar la formula a toda la columna, todas las filas usan el mismo IVA de B1.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2 · ANALISIS DE DATOS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886968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MIXTAS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Referencias relativas, absolutas y mixtas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32688" y="1737360"/>
          <a:ext cx="103327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4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4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Tipo de referencia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Ejemplo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Que permanece fijo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Relativa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A1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Nada: columna y fila cambian al copiar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Absoluta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$A$1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Todo: columna y fila no cambian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Columna fija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$A1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Solo la columna (A)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Fila fija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A$1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Solo la fila (1)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2 · ANALISIS DE 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781812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ATAJO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La tecla F4 y errores frecuentes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502920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Tecla F4: </a:t>
            </a:r>
            <a:r>
              <a:rPr sz="1600">
                <a:solidFill>
                  <a:srgbClr val="1F2A24"/>
                </a:solidFill>
                <a:latin typeface="Calibri"/>
              </a:rPr>
              <a:t>alterna entre los cuatro tipos: A1 → $A$1 → A$1 → $A1 → A1.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Uno de los atajos mas utiles: </a:t>
            </a:r>
            <a:r>
              <a:rPr sz="1600">
                <a:solidFill>
                  <a:srgbClr val="1F2A24"/>
                </a:solidFill>
                <a:latin typeface="Calibri"/>
              </a:rPr>
              <a:t>conviene practicarlo hasta que sea automatico.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67335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A4F2A"/>
                </a:solidFill>
                <a:latin typeface="Calibri"/>
              </a:rPr>
              <a:t>Errores frecuentes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2075688"/>
            <a:ext cx="502920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Olvidar el $: </a:t>
            </a:r>
            <a:r>
              <a:rPr sz="1600">
                <a:solidFill>
                  <a:srgbClr val="1F2A24"/>
                </a:solidFill>
                <a:latin typeface="Calibri"/>
              </a:rPr>
              <a:t>la referencia se desplaza y el calculo sale mal (#¡VALOR! o #REF!).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Poner $ de mas: </a:t>
            </a:r>
            <a:r>
              <a:rPr sz="1600">
                <a:solidFill>
                  <a:srgbClr val="1F2A24"/>
                </a:solidFill>
                <a:latin typeface="Calibri"/>
              </a:rPr>
              <a:t>impide que la formula se adapte al copiarla.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2 · ANALISIS DE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2011680" y="3840480"/>
            <a:ext cx="5486400" cy="5486400"/>
          </a:xfrm>
          <a:prstGeom prst="ellipse">
            <a:avLst/>
          </a:prstGeom>
          <a:solidFill>
            <a:srgbClr val="1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200" b="1">
                <a:solidFill>
                  <a:srgbClr val="132019"/>
                </a:solidFill>
                <a:latin typeface="Cambria"/>
              </a:rPr>
              <a:t>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566928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132019"/>
                </a:solidFill>
                <a:latin typeface="Calibri"/>
              </a:rPr>
              <a:t>EJERCICIO PRACTICO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3327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mbria"/>
              </a:rPr>
              <a:t>Ejercicio para alumnos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1033272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E8A33D"/>
                </a:solidFill>
                <a:latin typeface="Calibri"/>
              </a:rPr>
              <a:t>1.  </a:t>
            </a:r>
            <a:r>
              <a:rPr sz="1600">
                <a:solidFill>
                  <a:srgbClr val="EAF3EC"/>
                </a:solidFill>
                <a:latin typeface="Calibri"/>
              </a:rPr>
              <a:t>Crear una tabla con Producto, Precio sin IVA y Precio con IVA.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E8A33D"/>
                </a:solidFill>
                <a:latin typeface="Calibri"/>
              </a:rPr>
              <a:t>2.  </a:t>
            </a:r>
            <a:r>
              <a:rPr sz="1600">
                <a:solidFill>
                  <a:srgbClr val="EAF3EC"/>
                </a:solidFill>
                <a:latin typeface="Calibri"/>
              </a:rPr>
              <a:t>Escribir el tipo de IVA (21%) en una celda separada.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E8A33D"/>
                </a:solidFill>
                <a:latin typeface="Calibri"/>
              </a:rPr>
              <a:t>3.  </a:t>
            </a:r>
            <a:r>
              <a:rPr sz="1600">
                <a:solidFill>
                  <a:srgbClr val="EAF3EC"/>
                </a:solidFill>
                <a:latin typeface="Calibri"/>
              </a:rPr>
              <a:t>Calcular el precio con IVA usando una referencia absoluta a la celda del IVA.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E8A33D"/>
                </a:solidFill>
                <a:latin typeface="Calibri"/>
              </a:rPr>
              <a:t>4.  </a:t>
            </a:r>
            <a:r>
              <a:rPr sz="1600">
                <a:solidFill>
                  <a:srgbClr val="EAF3EC"/>
                </a:solidFill>
                <a:latin typeface="Calibri"/>
              </a:rPr>
              <a:t>Copiar la formula a todas las filas y comprobar que el resultado es correcto en todas ellas.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FB3A6"/>
                </a:solidFill>
                <a:latin typeface="Calibri"/>
              </a:rPr>
              <a:t>CLASE 2 · ANALISIS DE DATOS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FB3A6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863840" y="-2743200"/>
            <a:ext cx="7315200" cy="7315200"/>
          </a:xfrm>
          <a:prstGeom prst="ellipse">
            <a:avLst/>
          </a:prstGeom>
          <a:solidFill>
            <a:srgbClr val="1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" y="2148840"/>
            <a:ext cx="1371600" cy="137160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4400" b="1">
                <a:solidFill>
                  <a:srgbClr val="132019"/>
                </a:solidFill>
                <a:latin typeface="Cambria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2331720"/>
            <a:ext cx="877824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La funcion 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42032" y="3429000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CFE3D6"/>
                </a:solidFill>
                <a:latin typeface="Calibri"/>
              </a:rPr>
              <a:t>La funcion condicional mas utilizada: “si esto es asi, haz esto; si no, haz aquello”.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FB3A6"/>
                </a:solidFill>
                <a:latin typeface="Calibri"/>
              </a:rPr>
              <a:t>CLASE 2 · ANALISIS DE DATOS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SINTAXIS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Que es la funcion 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722376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Para que sirve: </a:t>
            </a:r>
            <a:r>
              <a:rPr sz="1600">
                <a:solidFill>
                  <a:srgbClr val="1F2A24"/>
                </a:solidFill>
                <a:latin typeface="Calibri"/>
              </a:rPr>
              <a:t>muestra un resultado u otro segun se cumpla o no una condicion.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Sintaxis: </a:t>
            </a:r>
            <a:r>
              <a:rPr sz="1600">
                <a:solidFill>
                  <a:srgbClr val="1F2A24"/>
                </a:solidFill>
                <a:latin typeface="Calibri"/>
              </a:rPr>
              <a:t>=SI(prueba_logica; valor_si_verdadero; valor_si_falso)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Uso habitual: </a:t>
            </a:r>
            <a:r>
              <a:rPr sz="1600">
                <a:solidFill>
                  <a:srgbClr val="1F2A24"/>
                </a:solidFill>
                <a:latin typeface="Calibri"/>
              </a:rPr>
              <a:t>clasificaciones, alertas y bonificaciones automaticas.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9235440" y="214884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772650" y="214884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309860" y="214884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847070" y="214884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235440" y="271272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772650" y="271272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309860" y="2712720"/>
            <a:ext cx="508635" cy="535305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847070" y="271272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235440" y="327660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772650" y="327660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309860" y="327660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847070" y="327660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2 · ANALISIS DE DATOS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SINTAXIS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Argumentos de la funcion SI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32688" y="1737360"/>
          <a:ext cx="103327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6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6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Argumento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Descripcion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prueba_logica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La condicion a evaluar (=, &gt;, &lt;, &gt;=, &lt;=, &lt;&gt;)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valor_si_verdadero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Lo que se muestra si la condicion se cumple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valor_si_falso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Lo que se muestra si la condicion NO se cumple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2 · ANALISIS DE 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B9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992124" cy="310896"/>
          </a:xfrm>
          <a:prstGeom prst="roundRect">
            <a:avLst>
              <a:gd name="adj" fmla="val 50000"/>
            </a:avLst>
          </a:prstGeom>
          <a:solidFill>
            <a:srgbClr val="B9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Calibri"/>
              </a:rPr>
              <a:t>EJEMPLO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2A24"/>
                </a:solidFill>
                <a:latin typeface="Cambria"/>
              </a:rPr>
              <a:t>Ejemplo basico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103327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F2A24"/>
                </a:solidFill>
                <a:latin typeface="Calibri"/>
              </a:rPr>
              <a:t>La columna C debe mostrar si cada comercial ha superado su objetivo de ventas (5.000 €):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2377440"/>
            <a:ext cx="10332720" cy="685800"/>
          </a:xfrm>
          <a:prstGeom prst="roundRect">
            <a:avLst>
              <a:gd name="adj" fmla="val 8000"/>
            </a:avLst>
          </a:prstGeom>
          <a:solidFill>
            <a:srgbClr val="132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76200" rIns="203200" bIns="76200" rtlCol="0" anchor="ctr"/>
          <a:lstStyle/>
          <a:p>
            <a:pPr algn="ctr"/>
            <a:r>
              <a:rPr sz="1800" b="1">
                <a:solidFill>
                  <a:srgbClr val="E8A33D"/>
                </a:solidFill>
                <a:latin typeface="Consolas"/>
              </a:rPr>
              <a:t>=SI(B2&gt;5000;"Objetivo cumplido";"Por debajo del objetivo")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" y="5715000"/>
            <a:ext cx="1033272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3200" tIns="50800" rIns="203200" bIns="50800" rtlCol="0" anchor="ctr"/>
          <a:lstStyle/>
          <a:p>
            <a:pPr algn="ctr"/>
            <a:r>
              <a:rPr sz="1450" b="1">
                <a:solidFill>
                  <a:srgbClr val="0A4F2A"/>
                </a:solidFill>
                <a:latin typeface="Calibri"/>
              </a:rPr>
              <a:t>Resultado: </a:t>
            </a:r>
            <a:r>
              <a:rPr sz="1450">
                <a:solidFill>
                  <a:srgbClr val="1F2A24"/>
                </a:solidFill>
                <a:latin typeface="Calibri"/>
              </a:rPr>
              <a:t>Al copiar la formula hacia abajo, Excel evalua la condicion para cada fila automaticamente.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2 · ANALISIS DE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B9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992124" cy="310896"/>
          </a:xfrm>
          <a:prstGeom prst="roundRect">
            <a:avLst>
              <a:gd name="adj" fmla="val 50000"/>
            </a:avLst>
          </a:prstGeom>
          <a:solidFill>
            <a:srgbClr val="B9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Calibri"/>
              </a:rPr>
              <a:t>EJEMPLO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2A24"/>
                </a:solidFill>
                <a:latin typeface="Cambria"/>
              </a:rPr>
              <a:t>SI anidado: mas de dos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103327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F2A24"/>
                </a:solidFill>
                <a:latin typeface="Calibri"/>
              </a:rPr>
              <a:t>Cuando hay mas de dos posibles resultados, se puede incluir un SI dentro de otro SI: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2377440"/>
            <a:ext cx="10332720" cy="685800"/>
          </a:xfrm>
          <a:prstGeom prst="roundRect">
            <a:avLst>
              <a:gd name="adj" fmla="val 8000"/>
            </a:avLst>
          </a:prstGeom>
          <a:solidFill>
            <a:srgbClr val="132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76200" rIns="203200" bIns="76200" rtlCol="0" anchor="ctr"/>
          <a:lstStyle/>
          <a:p>
            <a:pPr algn="ctr"/>
            <a:r>
              <a:rPr sz="1800" b="1">
                <a:solidFill>
                  <a:srgbClr val="E8A33D"/>
                </a:solidFill>
                <a:latin typeface="Consolas"/>
              </a:rPr>
              <a:t>=SI(B2&gt;=8000;"Excelente";SI(B2&gt;=5000;"Correcto";"Insuficiente"))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3291840"/>
            <a:ext cx="103327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600"/>
              </a:spcAft>
              <a:buClr>
                <a:srgbClr val="B97A1F"/>
              </a:buClr>
              <a:buFont typeface="Arial"/>
              <a:buChar char="▪"/>
            </a:pPr>
            <a:r>
              <a:rPr sz="1450">
                <a:solidFill>
                  <a:srgbClr val="1F2A24"/>
                </a:solidFill>
                <a:latin typeface="Calibri"/>
              </a:rPr>
              <a:t>Excel evalua primero la condicion exterior.</a:t>
            </a:r>
          </a:p>
          <a:p>
            <a:pPr marL="256032" indent="-201168" algn="l">
              <a:lnSpc>
                <a:spcPct val="108000"/>
              </a:lnSpc>
              <a:spcAft>
                <a:spcPts val="600"/>
              </a:spcAft>
              <a:buClr>
                <a:srgbClr val="B97A1F"/>
              </a:buClr>
              <a:buFont typeface="Arial"/>
              <a:buChar char="▪"/>
            </a:pPr>
            <a:r>
              <a:rPr sz="1450">
                <a:solidFill>
                  <a:srgbClr val="1F2A24"/>
                </a:solidFill>
                <a:latin typeface="Calibri"/>
              </a:rPr>
              <a:t>Si no se cumple, pasa a evaluar la siguiente.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5715000"/>
            <a:ext cx="1033272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3200" tIns="50800" rIns="203200" bIns="50800" rtlCol="0" anchor="ctr"/>
          <a:lstStyle/>
          <a:p>
            <a:pPr algn="ctr"/>
            <a:r>
              <a:rPr sz="1450" b="1">
                <a:solidFill>
                  <a:srgbClr val="0A4F2A"/>
                </a:solidFill>
                <a:latin typeface="Calibri"/>
              </a:rPr>
              <a:t>Resultado: </a:t>
            </a:r>
            <a:r>
              <a:rPr sz="1450">
                <a:solidFill>
                  <a:srgbClr val="1F2A24"/>
                </a:solidFill>
                <a:latin typeface="Calibri"/>
              </a:rPr>
              <a:t>Desde Excel 2019, SI.CONJUNTO simplifica este tipo de formulas con muchos tramos.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2 · ANALISIS DE DATOS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DETALLES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Textos y errores frecuentes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502920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Textos entre comillas: </a:t>
            </a:r>
            <a:r>
              <a:rPr sz="1600">
                <a:solidFill>
                  <a:srgbClr val="1F2A24"/>
                </a:solidFill>
                <a:latin typeface="Calibri"/>
              </a:rPr>
              <a:t>los resultados de texto van entre comillas dobles; "" deja la celda vacia.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67335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A4F2A"/>
                </a:solidFill>
                <a:latin typeface="Calibri"/>
              </a:rPr>
              <a:t>Errores frecuentes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2075688"/>
            <a:ext cx="502920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Olvidar las comillas </a:t>
            </a:r>
            <a:r>
              <a:rPr sz="1600">
                <a:solidFill>
                  <a:srgbClr val="1F2A24"/>
                </a:solidFill>
                <a:latin typeface="Calibri"/>
              </a:rPr>
              <a:t>en los textos.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Confundir el separador: </a:t>
            </a:r>
            <a:r>
              <a:rPr sz="1600">
                <a:solidFill>
                  <a:srgbClr val="1F2A24"/>
                </a:solidFill>
                <a:latin typeface="Calibri"/>
              </a:rPr>
              <a:t>punto y coma (;) en vez de coma, segun la configuracion regional.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Anidar demasiados SI: </a:t>
            </a:r>
            <a:r>
              <a:rPr sz="1600">
                <a:solidFill>
                  <a:srgbClr val="1F2A24"/>
                </a:solidFill>
                <a:latin typeface="Calibri"/>
              </a:rPr>
              <a:t>a partir de 4 niveles es dificil de leer.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2 · ANALISIS DE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2011680" y="3840480"/>
            <a:ext cx="5486400" cy="5486400"/>
          </a:xfrm>
          <a:prstGeom prst="ellipse">
            <a:avLst/>
          </a:prstGeom>
          <a:solidFill>
            <a:srgbClr val="1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200" b="1">
                <a:solidFill>
                  <a:srgbClr val="132019"/>
                </a:solidFill>
                <a:latin typeface="Cambria"/>
              </a:rPr>
              <a:t>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566928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132019"/>
                </a:solidFill>
                <a:latin typeface="Calibri"/>
              </a:rPr>
              <a:t>EJERCICIO PRACTICO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3327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mbria"/>
              </a:rPr>
              <a:t>Ejercicio para alumnos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1033272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E8A33D"/>
                </a:solidFill>
                <a:latin typeface="Calibri"/>
              </a:rPr>
              <a:t>1.  </a:t>
            </a:r>
            <a:r>
              <a:rPr sz="1600">
                <a:solidFill>
                  <a:srgbClr val="EAF3EC"/>
                </a:solidFill>
                <a:latin typeface="Calibri"/>
              </a:rPr>
              <a:t>Crear una tabla con diez empleados y sus horas trabajadas en el mes.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E8A33D"/>
                </a:solidFill>
                <a:latin typeface="Calibri"/>
              </a:rPr>
              <a:t>2.  </a:t>
            </a:r>
            <a:r>
              <a:rPr sz="1600">
                <a:solidFill>
                  <a:srgbClr val="EAF3EC"/>
                </a:solidFill>
                <a:latin typeface="Calibri"/>
              </a:rPr>
              <a:t>Añadir una columna que muestre “Jornada completa” si las horas son 160 o mas.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E8A33D"/>
                </a:solidFill>
                <a:latin typeface="Calibri"/>
              </a:rPr>
              <a:t>3.  </a:t>
            </a:r>
            <a:r>
              <a:rPr sz="1600">
                <a:solidFill>
                  <a:srgbClr val="EAF3EC"/>
                </a:solidFill>
                <a:latin typeface="Calibri"/>
              </a:rPr>
              <a:t>“Parcial” si estan entre 80 y 159, e “Irregular” si son menos de 80.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E8A33D"/>
                </a:solidFill>
                <a:latin typeface="Calibri"/>
              </a:rPr>
              <a:t>4.  </a:t>
            </a:r>
            <a:r>
              <a:rPr sz="1600">
                <a:solidFill>
                  <a:srgbClr val="EAF3EC"/>
                </a:solidFill>
                <a:latin typeface="Calibri"/>
              </a:rPr>
              <a:t>Resolver el ejercicio usando una funcion SI anidada.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FB3A6"/>
                </a:solidFill>
                <a:latin typeface="Calibri"/>
              </a:rPr>
              <a:t>CLASE 2 · ANALISIS DE DATOS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FB3A6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863840" y="-2743200"/>
            <a:ext cx="7315200" cy="7315200"/>
          </a:xfrm>
          <a:prstGeom prst="ellipse">
            <a:avLst/>
          </a:prstGeom>
          <a:solidFill>
            <a:srgbClr val="1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" y="2148840"/>
            <a:ext cx="1371600" cy="137160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4400" b="1">
                <a:solidFill>
                  <a:srgbClr val="132019"/>
                </a:solidFill>
                <a:latin typeface="Cambria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2331720"/>
            <a:ext cx="877824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Formato condicional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42032" y="3429000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CFE3D6"/>
                </a:solidFill>
                <a:latin typeface="Calibri"/>
              </a:rPr>
              <a:t>Excel cambia el aspecto de una celda automaticamente segun su valor.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FB3A6"/>
                </a:solidFill>
                <a:latin typeface="Calibri"/>
              </a:rPr>
              <a:t>CLASE 2 · ANALISIS DE DATOS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CONCEPTO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Que es el formato condicional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722376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Para que sirve: </a:t>
            </a:r>
            <a:r>
              <a:rPr sz="1600">
                <a:solidFill>
                  <a:srgbClr val="1F2A24"/>
                </a:solidFill>
                <a:latin typeface="Calibri"/>
              </a:rPr>
              <a:t>identificar de un vistazo datos importantes, anomalias o tendencias.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Se accede desde: </a:t>
            </a:r>
            <a:r>
              <a:rPr sz="1600">
                <a:solidFill>
                  <a:srgbClr val="1F2A24"/>
                </a:solidFill>
                <a:latin typeface="Calibri"/>
              </a:rPr>
              <a:t>Inicio &gt; grupo Estilos &gt; Formato condicional.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Es dinamico: </a:t>
            </a:r>
            <a:r>
              <a:rPr sz="1600">
                <a:solidFill>
                  <a:srgbClr val="1F2A24"/>
                </a:solidFill>
                <a:latin typeface="Calibri"/>
              </a:rPr>
              <a:t>se actualiza solo cuando cambian los datos, no modifica los valores.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9235440" y="214884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772650" y="214884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309860" y="214884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847070" y="214884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235440" y="271272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772650" y="271272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309860" y="2712720"/>
            <a:ext cx="508635" cy="535305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847070" y="271272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235440" y="327660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772650" y="327660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309860" y="327660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847070" y="327660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2 · ANALISIS DE DATOS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B9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992124" cy="310896"/>
          </a:xfrm>
          <a:prstGeom prst="roundRect">
            <a:avLst>
              <a:gd name="adj" fmla="val 50000"/>
            </a:avLst>
          </a:prstGeom>
          <a:solidFill>
            <a:srgbClr val="B9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Calibri"/>
              </a:rPr>
              <a:t>EJEMPLO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2A24"/>
                </a:solidFill>
                <a:latin typeface="Cambria"/>
              </a:rPr>
              <a:t>Ejemplo: resaltar celdas segun su valor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103327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F2A24"/>
                </a:solidFill>
                <a:latin typeface="Calibri"/>
              </a:rPr>
              <a:t>Para resaltar en rojo todas las celdas de una columna con un valor inferior a 100: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377440"/>
            <a:ext cx="103327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600"/>
              </a:spcAft>
              <a:buClr>
                <a:srgbClr val="B97A1F"/>
              </a:buClr>
              <a:buFont typeface="Arial"/>
              <a:buChar char="▪"/>
            </a:pPr>
            <a:r>
              <a:rPr sz="1450">
                <a:solidFill>
                  <a:srgbClr val="1F2A24"/>
                </a:solidFill>
                <a:latin typeface="Calibri"/>
              </a:rPr>
              <a:t>Seleccionar el rango de celdas.</a:t>
            </a:r>
          </a:p>
          <a:p>
            <a:pPr marL="256032" indent="-201168" algn="l">
              <a:lnSpc>
                <a:spcPct val="108000"/>
              </a:lnSpc>
              <a:spcAft>
                <a:spcPts val="600"/>
              </a:spcAft>
              <a:buClr>
                <a:srgbClr val="B97A1F"/>
              </a:buClr>
              <a:buFont typeface="Arial"/>
              <a:buChar char="▪"/>
            </a:pPr>
            <a:r>
              <a:rPr sz="1450">
                <a:solidFill>
                  <a:srgbClr val="1F2A24"/>
                </a:solidFill>
                <a:latin typeface="Calibri"/>
              </a:rPr>
              <a:t>Formato condicional &gt; Resaltar reglas de celdas &gt; Es menor que.</a:t>
            </a:r>
          </a:p>
          <a:p>
            <a:pPr marL="256032" indent="-201168" algn="l">
              <a:lnSpc>
                <a:spcPct val="108000"/>
              </a:lnSpc>
              <a:spcAft>
                <a:spcPts val="600"/>
              </a:spcAft>
              <a:buClr>
                <a:srgbClr val="B97A1F"/>
              </a:buClr>
              <a:buFont typeface="Arial"/>
              <a:buChar char="▪"/>
            </a:pPr>
            <a:r>
              <a:rPr sz="1450">
                <a:solidFill>
                  <a:srgbClr val="1F2A24"/>
                </a:solidFill>
                <a:latin typeface="Calibri"/>
              </a:rPr>
              <a:t>Introducir el valor 100 y elegir el color de relleno.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" y="5715000"/>
            <a:ext cx="1033272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3200" tIns="50800" rIns="203200" bIns="50800" rtlCol="0" anchor="ctr"/>
          <a:lstStyle/>
          <a:p>
            <a:pPr algn="ctr"/>
            <a:r>
              <a:rPr sz="1450" b="1">
                <a:solidFill>
                  <a:srgbClr val="0A4F2A"/>
                </a:solidFill>
                <a:latin typeface="Calibri"/>
              </a:rPr>
              <a:t>Resultado: </a:t>
            </a:r>
            <a:r>
              <a:rPr sz="1450">
                <a:solidFill>
                  <a:srgbClr val="1F2A24"/>
                </a:solidFill>
                <a:latin typeface="Calibri"/>
              </a:rPr>
              <a:t>Tambien existen reglas para valores mayores, iguales a un texto o fechas concretas.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2 · ANALISIS DE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886968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REGLAS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Reglas superiores e inferiores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722376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>
                <a:solidFill>
                  <a:srgbClr val="1F2A24"/>
                </a:solidFill>
                <a:latin typeface="Calibri"/>
              </a:rPr>
              <a:t>Resaltar automaticamente los 10 valores mas altos o mas bajos.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>
                <a:solidFill>
                  <a:srgbClr val="1F2A24"/>
                </a:solidFill>
                <a:latin typeface="Calibri"/>
              </a:rPr>
              <a:t>Resaltar los valores por encima o por debajo de la media.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>
                <a:solidFill>
                  <a:srgbClr val="1F2A24"/>
                </a:solidFill>
                <a:latin typeface="Calibri"/>
              </a:rPr>
              <a:t>Muy util en analisis de ventas o de rendimiento.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9235440" y="214884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772650" y="214884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309860" y="214884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847070" y="214884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235440" y="271272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772650" y="271272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309860" y="2712720"/>
            <a:ext cx="508635" cy="535305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847070" y="271272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235440" y="327660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772650" y="327660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309860" y="327660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847070" y="327660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2 · ANALISIS DE DATOS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1833372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REGLAS VISUALES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Barras de datos, escalas de color e iconos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32688" y="1737360"/>
          <a:ext cx="103327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6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6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Herramienta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Que hace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Barras de datos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Barra proporcional al valor dentro de la celda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Escalas de color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Gama de colores segun la magnitud (verde-amarillo-rojo)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Conjuntos de iconos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Iconos (flechas, semaforos, estrellas) segun el rango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2 · ANALISIS DE 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992124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GESTION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Administrar reglas y errores frecuentes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502920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Administrar reglas: </a:t>
            </a:r>
            <a:r>
              <a:rPr sz="1600">
                <a:solidFill>
                  <a:srgbClr val="1F2A24"/>
                </a:solidFill>
                <a:latin typeface="Calibri"/>
              </a:rPr>
              <a:t>Formato condicional &gt; Administrar reglas, para editar, priorizar o eliminar.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67335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A4F2A"/>
                </a:solidFill>
                <a:latin typeface="Calibri"/>
              </a:rPr>
              <a:t>Errores frecuentes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2075688"/>
            <a:ext cx="502920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Aplicar a una sola celda </a:t>
            </a:r>
            <a:r>
              <a:rPr sz="1600">
                <a:solidFill>
                  <a:srgbClr val="1F2A24"/>
                </a:solidFill>
                <a:latin typeface="Calibri"/>
              </a:rPr>
              <a:t>cuando se queria aplicar a todo un rango.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Reglas contradictorias: </a:t>
            </a:r>
            <a:r>
              <a:rPr sz="1600">
                <a:solidFill>
                  <a:srgbClr val="1F2A24"/>
                </a:solidFill>
                <a:latin typeface="Calibri"/>
              </a:rPr>
              <a:t>acumular varias sin darse cuenta.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Confundir aspecto y valor: </a:t>
            </a:r>
            <a:r>
              <a:rPr sz="1600">
                <a:solidFill>
                  <a:srgbClr val="1F2A24"/>
                </a:solidFill>
                <a:latin typeface="Calibri"/>
              </a:rPr>
              <a:t>el formato condicional no cambia los datos.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2 · ANALISIS DE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2011680" y="3840480"/>
            <a:ext cx="5486400" cy="5486400"/>
          </a:xfrm>
          <a:prstGeom prst="ellipse">
            <a:avLst/>
          </a:prstGeom>
          <a:solidFill>
            <a:srgbClr val="1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200" b="1">
                <a:solidFill>
                  <a:srgbClr val="132019"/>
                </a:solidFill>
                <a:latin typeface="Cambria"/>
              </a:rPr>
              <a:t>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566928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132019"/>
                </a:solidFill>
                <a:latin typeface="Calibri"/>
              </a:rPr>
              <a:t>EJERCICIO PRACTICO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3327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mbria"/>
              </a:rPr>
              <a:t>Ejercicio para alumnos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1033272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E8A33D"/>
                </a:solidFill>
                <a:latin typeface="Calibri"/>
              </a:rPr>
              <a:t>1.  </a:t>
            </a:r>
            <a:r>
              <a:rPr sz="1600">
                <a:solidFill>
                  <a:srgbClr val="EAF3EC"/>
                </a:solidFill>
                <a:latin typeface="Calibri"/>
              </a:rPr>
              <a:t>Crear una tabla con las ventas mensuales de cinco productos.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E8A33D"/>
                </a:solidFill>
                <a:latin typeface="Calibri"/>
              </a:rPr>
              <a:t>2.  </a:t>
            </a:r>
            <a:r>
              <a:rPr sz="1600">
                <a:solidFill>
                  <a:srgbClr val="EAF3EC"/>
                </a:solidFill>
                <a:latin typeface="Calibri"/>
              </a:rPr>
              <a:t>Aplicar una escala de color verde-amarillo-rojo al rango de ventas.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E8A33D"/>
                </a:solidFill>
                <a:latin typeface="Calibri"/>
              </a:rPr>
              <a:t>3.  </a:t>
            </a:r>
            <a:r>
              <a:rPr sz="1600">
                <a:solidFill>
                  <a:srgbClr val="EAF3EC"/>
                </a:solidFill>
                <a:latin typeface="Calibri"/>
              </a:rPr>
              <a:t>Añadir una segunda regla que resalte en negrita cualquier valor superior a 10.000 €.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E8A33D"/>
                </a:solidFill>
                <a:latin typeface="Calibri"/>
              </a:rPr>
              <a:t>4.  </a:t>
            </a:r>
            <a:r>
              <a:rPr sz="1600">
                <a:solidFill>
                  <a:srgbClr val="EAF3EC"/>
                </a:solidFill>
                <a:latin typeface="Calibri"/>
              </a:rPr>
              <a:t>Comprobar que ambas reglas conviven y gestionar su prioridad desde Administrar reglas.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FB3A6"/>
                </a:solidFill>
                <a:latin typeface="Calibri"/>
              </a:rPr>
              <a:t>CLASE 2 · ANALISIS DE DATOS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FB3A6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863840" y="-2743200"/>
            <a:ext cx="7315200" cy="7315200"/>
          </a:xfrm>
          <a:prstGeom prst="ellipse">
            <a:avLst/>
          </a:prstGeom>
          <a:solidFill>
            <a:srgbClr val="1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" y="2148840"/>
            <a:ext cx="1371600" cy="137160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4400" b="1">
                <a:solidFill>
                  <a:srgbClr val="132019"/>
                </a:solidFill>
                <a:latin typeface="Cambria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2331720"/>
            <a:ext cx="877824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Tablas dinamicas basicas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42032" y="3429000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CFE3D6"/>
                </a:solidFill>
                <a:latin typeface="Calibri"/>
              </a:rPr>
              <a:t>Resumir, agrupar y filtrar grandes volumenes de datos sin escribir formulas.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FB3A6"/>
                </a:solidFill>
                <a:latin typeface="Calibri"/>
              </a:rPr>
              <a:t>CLASE 2 · ANALISIS DE DATOS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18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CONCEPTO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Que es una tabla dinamica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722376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Definicion: </a:t>
            </a:r>
            <a:r>
              <a:rPr sz="1600">
                <a:solidFill>
                  <a:srgbClr val="1F2A24"/>
                </a:solidFill>
                <a:latin typeface="Calibri"/>
              </a:rPr>
              <a:t>un resumen interactivo de los datos de una hoja (ventas, empleados, inventario...).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Permite: </a:t>
            </a:r>
            <a:r>
              <a:rPr sz="1600">
                <a:solidFill>
                  <a:srgbClr val="1F2A24"/>
                </a:solidFill>
                <a:latin typeface="Calibri"/>
              </a:rPr>
              <a:t>obtener totales, promedios y recuentos agrupando segun los criterios elegidos.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“Dinamica” significa: </a:t>
            </a:r>
            <a:r>
              <a:rPr sz="1600">
                <a:solidFill>
                  <a:srgbClr val="1F2A24"/>
                </a:solidFill>
                <a:latin typeface="Calibri"/>
              </a:rPr>
              <a:t>se puede reorganizar en tiempo real arrastrando campos.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9235440" y="214884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772650" y="214884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309860" y="214884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847070" y="214884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235440" y="271272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772650" y="271272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309860" y="2712720"/>
            <a:ext cx="508635" cy="535305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847070" y="271272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235440" y="327660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772650" y="327660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309860" y="327660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847070" y="327660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2 · ANALISIS DE DATOS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18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1412748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PREPARACION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Preparar los datos antes de crear la tabla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1033272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>
                <a:solidFill>
                  <a:srgbClr val="1F2A24"/>
                </a:solidFill>
                <a:latin typeface="Calibri"/>
              </a:rPr>
              <a:t>Cada columna debe tener un encabezado unico.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>
                <a:solidFill>
                  <a:srgbClr val="1F2A24"/>
                </a:solidFill>
                <a:latin typeface="Calibri"/>
              </a:rPr>
              <a:t>No debe haber filas o columnas completamente vacias dentro del rango.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>
                <a:solidFill>
                  <a:srgbClr val="1F2A24"/>
                </a:solidFill>
                <a:latin typeface="Calibri"/>
              </a:rPr>
              <a:t>Cada fila debe representar un unico registro.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>
                <a:solidFill>
                  <a:srgbClr val="1F2A24"/>
                </a:solidFill>
                <a:latin typeface="Calibri"/>
              </a:rPr>
              <a:t>Lo mas seguro: convertir antes el origen en una tabla de Excel (Insertar &gt; Tabla).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2 · ANALISIS DE 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18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CREACION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Crear una tabla dinamica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1033272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>
                <a:solidFill>
                  <a:srgbClr val="1F2A24"/>
                </a:solidFill>
                <a:latin typeface="Calibri"/>
              </a:rPr>
              <a:t>Hacer clic en cualquier celda dentro del rango de datos.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>
                <a:solidFill>
                  <a:srgbClr val="1F2A24"/>
                </a:solidFill>
                <a:latin typeface="Calibri"/>
              </a:rPr>
              <a:t>Insertar &gt; Tabla dinamica.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>
                <a:solidFill>
                  <a:srgbClr val="1F2A24"/>
                </a:solidFill>
                <a:latin typeface="Calibri"/>
              </a:rPr>
              <a:t>Confirmar el rango y elegir hoja nueva o actual.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>
                <a:solidFill>
                  <a:srgbClr val="1F2A24"/>
                </a:solidFill>
                <a:latin typeface="Calibri"/>
              </a:rPr>
              <a:t>Aceptar: Excel muestra una tabla vacia y el panel de campos a la derecha.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2 · ANALISIS DE 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18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1833372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PANEL DE CAMPOS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Las cuatro areas del panel de campos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32688" y="1737360"/>
          <a:ext cx="103327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6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6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Area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Funcion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Filtros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Filtra toda la tabla dinamica segun un campo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Columnas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Distribuye los valores del campo como columnas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Filas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Distribuye los valores del campo como filas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Valores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Calcula el resumen numerico: suma, recuento, promedio...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2 · ANALISIS DE 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18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992124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AJUSTES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Cambiar el calculo y actualizar la tabla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502920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Cambiar el calculo: </a:t>
            </a:r>
            <a:r>
              <a:rPr sz="1600">
                <a:solidFill>
                  <a:srgbClr val="1F2A24"/>
                </a:solidFill>
                <a:latin typeface="Calibri"/>
              </a:rPr>
              <a:t>clic en el campo dentro de Valores &gt; Configuracion de campo de valor.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67335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A4F2A"/>
                </a:solidFill>
                <a:latin typeface="Calibri"/>
              </a:rPr>
              <a:t>Actualizar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2075688"/>
            <a:ext cx="502920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No es automatico: </a:t>
            </a:r>
            <a:r>
              <a:rPr sz="1600">
                <a:solidFill>
                  <a:srgbClr val="1F2A24"/>
                </a:solidFill>
                <a:latin typeface="Calibri"/>
              </a:rPr>
              <a:t>clic derecho &gt; Actualizar tras modificar los datos de origen.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Si el origen es tabla: </a:t>
            </a:r>
            <a:r>
              <a:rPr sz="1600">
                <a:solidFill>
                  <a:srgbClr val="1F2A24"/>
                </a:solidFill>
                <a:latin typeface="Calibri"/>
              </a:rPr>
              <a:t>las filas nuevas se incluyen al actualizar.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2 · ANALISIS DE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18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FILTRADO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Segmentaciones de datos y errores frecuentes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502920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Segmentaciones (slicers): </a:t>
            </a:r>
            <a:r>
              <a:rPr sz="1600">
                <a:solidFill>
                  <a:srgbClr val="1F2A24"/>
                </a:solidFill>
                <a:latin typeface="Calibri"/>
              </a:rPr>
              <a:t>botones visuales para filtrar con un clic; ideales para usuarios no expertos.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67335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A4F2A"/>
                </a:solidFill>
                <a:latin typeface="Calibri"/>
              </a:rPr>
              <a:t>Errores frecuentes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2075688"/>
            <a:ext cx="502920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Editar valores directamente </a:t>
            </a:r>
            <a:r>
              <a:rPr sz="1600">
                <a:solidFill>
                  <a:srgbClr val="1F2A24"/>
                </a:solidFill>
                <a:latin typeface="Calibri"/>
              </a:rPr>
              <a:t>en la tabla dinamica (Excel no lo permite).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No actualizar </a:t>
            </a:r>
            <a:r>
              <a:rPr sz="1600">
                <a:solidFill>
                  <a:srgbClr val="1F2A24"/>
                </a:solidFill>
                <a:latin typeface="Calibri"/>
              </a:rPr>
              <a:t>tras modificar los datos de origen.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Poner texto en Valores: </a:t>
            </a:r>
            <a:r>
              <a:rPr sz="1600">
                <a:solidFill>
                  <a:srgbClr val="1F2A24"/>
                </a:solidFill>
                <a:latin typeface="Calibri"/>
              </a:rPr>
              <a:t>esa area solo calcula, no muestra texto.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2 · ANALISIS DE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2011680" y="3840480"/>
            <a:ext cx="5486400" cy="5486400"/>
          </a:xfrm>
          <a:prstGeom prst="ellipse">
            <a:avLst/>
          </a:prstGeom>
          <a:solidFill>
            <a:srgbClr val="1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200" b="1">
                <a:solidFill>
                  <a:srgbClr val="132019"/>
                </a:solidFill>
                <a:latin typeface="Cambria"/>
              </a:rPr>
              <a:t>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566928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132019"/>
                </a:solidFill>
                <a:latin typeface="Calibri"/>
              </a:rPr>
              <a:t>EJERCICIO PRACTICO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3327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mbria"/>
              </a:rPr>
              <a:t>Ejercicio para alumnos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1033272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E8A33D"/>
                </a:solidFill>
                <a:latin typeface="Calibri"/>
              </a:rPr>
              <a:t>1.  </a:t>
            </a:r>
            <a:r>
              <a:rPr sz="1600">
                <a:solidFill>
                  <a:srgbClr val="EAF3EC"/>
                </a:solidFill>
                <a:latin typeface="Calibri"/>
              </a:rPr>
              <a:t>Crear una lista de al menos 20 registros: Fecha, Vendedor, Region, Producto y Ventas (€).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E8A33D"/>
                </a:solidFill>
                <a:latin typeface="Calibri"/>
              </a:rPr>
              <a:t>2.  </a:t>
            </a:r>
            <a:r>
              <a:rPr sz="1600">
                <a:solidFill>
                  <a:srgbClr val="EAF3EC"/>
                </a:solidFill>
                <a:latin typeface="Calibri"/>
              </a:rPr>
              <a:t>Insertar una tabla dinamica en una hoja nueva.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E8A33D"/>
                </a:solidFill>
                <a:latin typeface="Calibri"/>
              </a:rPr>
              <a:t>3.  </a:t>
            </a:r>
            <a:r>
              <a:rPr sz="1600">
                <a:solidFill>
                  <a:srgbClr val="EAF3EC"/>
                </a:solidFill>
                <a:latin typeface="Calibri"/>
              </a:rPr>
              <a:t>Colocar Vendedor en Filas, Region en Columnas y Ventas en Valores (suma).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E8A33D"/>
                </a:solidFill>
                <a:latin typeface="Calibri"/>
              </a:rPr>
              <a:t>4.  </a:t>
            </a:r>
            <a:r>
              <a:rPr sz="1600">
                <a:solidFill>
                  <a:srgbClr val="EAF3EC"/>
                </a:solidFill>
                <a:latin typeface="Calibri"/>
              </a:rPr>
              <a:t>Añadir una segmentacion de datos por Producto y comprobar que filtra correctamente.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FB3A6"/>
                </a:solidFill>
                <a:latin typeface="Calibri"/>
              </a:rPr>
              <a:t>CLASE 2 · ANALISIS DE DATOS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FB3A6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863840" y="-2743200"/>
            <a:ext cx="7315200" cy="7315200"/>
          </a:xfrm>
          <a:prstGeom prst="ellipse">
            <a:avLst/>
          </a:prstGeom>
          <a:solidFill>
            <a:srgbClr val="1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" y="2148840"/>
            <a:ext cx="1371600" cy="137160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4400" b="1">
                <a:solidFill>
                  <a:srgbClr val="132019"/>
                </a:solidFill>
                <a:latin typeface="Cambria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2331720"/>
            <a:ext cx="877824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Funciones de 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42032" y="3429000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CFE3D6"/>
                </a:solidFill>
                <a:latin typeface="Calibri"/>
              </a:rPr>
              <a:t>Limpiar, extraer y combinar texto: imprescindible con datos importados de otros sistemas.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FB3A6"/>
                </a:solidFill>
                <a:latin typeface="Calibri"/>
              </a:rPr>
              <a:t>CLASE 2 · ANALISIS DE DATOS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1623060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EXTRAER 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IZQUIERDA, DERECHA y EXTRAE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32688" y="1737360"/>
          <a:ext cx="103327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4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4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Funcion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Sintaxis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Que hace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IZQUIERDA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=IZQUIERDA(texto; núm_caracteres)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Primeros N caracteres por la izquierda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DERECHA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=DERECHA(texto; núm_caracteres)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Ultimos N caracteres por la derecha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EXTRAE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=EXTRAE(texto; posicion; núm_caracteres)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N caracteres desde una posicion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2 · ANALISIS DE 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B9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992124" cy="310896"/>
          </a:xfrm>
          <a:prstGeom prst="roundRect">
            <a:avLst>
              <a:gd name="adj" fmla="val 50000"/>
            </a:avLst>
          </a:prstGeom>
          <a:solidFill>
            <a:srgbClr val="B9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Calibri"/>
              </a:rPr>
              <a:t>EJEMPLO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2A24"/>
                </a:solidFill>
                <a:latin typeface="Cambria"/>
              </a:rPr>
              <a:t>Ejemplo: IZQUIERDA, DERECHA y EXTRAE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103327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F2A24"/>
                </a:solidFill>
                <a:latin typeface="Calibri"/>
              </a:rPr>
              <a:t>Si la celda A2 contiene el texto "ES-2024-001":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377440"/>
            <a:ext cx="103327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600"/>
              </a:spcAft>
              <a:buClr>
                <a:srgbClr val="B97A1F"/>
              </a:buClr>
              <a:buFont typeface="Arial"/>
              <a:buChar char="▪"/>
            </a:pPr>
            <a:r>
              <a:rPr sz="1450">
                <a:solidFill>
                  <a:srgbClr val="1F2A24"/>
                </a:solidFill>
                <a:latin typeface="Calibri"/>
              </a:rPr>
              <a:t>=IZQUIERDA(A2;2)  →  "ES"</a:t>
            </a:r>
          </a:p>
          <a:p>
            <a:pPr marL="256032" indent="-201168" algn="l">
              <a:lnSpc>
                <a:spcPct val="108000"/>
              </a:lnSpc>
              <a:spcAft>
                <a:spcPts val="600"/>
              </a:spcAft>
              <a:buClr>
                <a:srgbClr val="B97A1F"/>
              </a:buClr>
              <a:buFont typeface="Arial"/>
              <a:buChar char="▪"/>
            </a:pPr>
            <a:r>
              <a:rPr sz="1450">
                <a:solidFill>
                  <a:srgbClr val="1F2A24"/>
                </a:solidFill>
                <a:latin typeface="Calibri"/>
              </a:rPr>
              <a:t>=DERECHA(A2;3)  →  "001"</a:t>
            </a:r>
          </a:p>
          <a:p>
            <a:pPr marL="256032" indent="-201168" algn="l">
              <a:lnSpc>
                <a:spcPct val="108000"/>
              </a:lnSpc>
              <a:spcAft>
                <a:spcPts val="600"/>
              </a:spcAft>
              <a:buClr>
                <a:srgbClr val="B97A1F"/>
              </a:buClr>
              <a:buFont typeface="Arial"/>
              <a:buChar char="▪"/>
            </a:pPr>
            <a:r>
              <a:rPr sz="1450">
                <a:solidFill>
                  <a:srgbClr val="1F2A24"/>
                </a:solidFill>
                <a:latin typeface="Calibri"/>
              </a:rPr>
              <a:t>=EXTRAE(A2;4;4)  →  "2024"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" y="5715000"/>
            <a:ext cx="1033272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3200" tIns="50800" rIns="203200" bIns="50800" rtlCol="0" anchor="ctr"/>
          <a:lstStyle/>
          <a:p>
            <a:pPr algn="ctr"/>
            <a:r>
              <a:rPr sz="1450" b="1">
                <a:solidFill>
                  <a:srgbClr val="0A4F2A"/>
                </a:solidFill>
                <a:latin typeface="Calibri"/>
              </a:rPr>
              <a:t>Resultado: </a:t>
            </a:r>
            <a:r>
              <a:rPr sz="1450">
                <a:solidFill>
                  <a:srgbClr val="1F2A24"/>
                </a:solidFill>
                <a:latin typeface="Calibri"/>
              </a:rPr>
              <a:t>Utiles para separar prefijos de pais, aislar años o recuperar iniciales de un nombre.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2 · ANALISIS DE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LONGITUD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La funcion LARGO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722376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Que hace: </a:t>
            </a:r>
            <a:r>
              <a:rPr sz="1600">
                <a:solidFill>
                  <a:srgbClr val="1F2A24"/>
                </a:solidFill>
                <a:latin typeface="Calibri"/>
              </a:rPr>
              <a:t>devuelve el numero de caracteres de un texto, incluidos los espacios.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Sintaxis: </a:t>
            </a:r>
            <a:r>
              <a:rPr sz="1600">
                <a:solidFill>
                  <a:srgbClr val="1F2A24"/>
                </a:solidFill>
                <a:latin typeface="Calibri"/>
              </a:rPr>
              <a:t>=LARGO(texto)   —   Ejemplo: =LARGO("Excel") devuelve 5.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Uso habitual: </a:t>
            </a:r>
            <a:r>
              <a:rPr sz="1600">
                <a:solidFill>
                  <a:srgbClr val="1F2A24"/>
                </a:solidFill>
                <a:latin typeface="Calibri"/>
              </a:rPr>
              <a:t>verificar que un campo tiene la longitud correcta (ej. un codigo postal de 5 digitos).</a:t>
            </a:r>
          </a:p>
        </p:txBody>
      </p:sp>
      <p:sp>
        <p:nvSpPr>
          <p:cNvPr id="6" name="Rectangle 5"/>
          <p:cNvSpPr/>
          <p:nvPr/>
        </p:nvSpPr>
        <p:spPr>
          <a:xfrm>
            <a:off x="9235440" y="214884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772650" y="214884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309860" y="214884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847070" y="214884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235440" y="271272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772650" y="271272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309860" y="2712720"/>
            <a:ext cx="508635" cy="535305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847070" y="271272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235440" y="327660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772650" y="327660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309860" y="327660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847070" y="327660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2 · ANALISIS DE DATOS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1307592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UNIR 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CONCATENAR y el operador &amp;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32688" y="1737360"/>
          <a:ext cx="103327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4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4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Metodo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Ejemplo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Resultado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CONCATENAR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=CONCATENAR(A2;" ";B2)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Une nombre y apellido con un espacio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Operador &amp;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=A2&amp;" "&amp;B2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Mismo resultado, sintaxis mas corta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CONCAT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=CONCAT(A2;" ";B2)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Equivalente, admite rangos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32688" y="3977640"/>
            <a:ext cx="10332720" cy="548640"/>
          </a:xfrm>
          <a:prstGeom prst="roundRect">
            <a:avLst>
              <a:gd name="adj" fmla="val 12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77800" tIns="50800" rIns="177800" bIns="50800" rtlCol="0" anchor="ctr"/>
          <a:lstStyle/>
          <a:p>
            <a:pPr algn="ctr"/>
            <a:r>
              <a:rPr sz="1250" i="1">
                <a:solidFill>
                  <a:srgbClr val="5B6B62"/>
                </a:solidFill>
                <a:latin typeface="Calibri"/>
              </a:rPr>
              <a:t>Error frecuente: olvidar el separador y obtener las palabras pegadas sin espacio.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2 · ANALISIS DE DATOS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2464308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MAYUSCULAS/MINUSCULAS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MAYUSC, MINUSC y NOMPROPIO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32688" y="1737360"/>
          <a:ext cx="103327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4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4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Funcion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Ejemplo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Resultado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MAYUSC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=MAYUSC("juan pérez")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JUAN PÉREZ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MINUSC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=MINUSC("JUAN PÉREZ")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juan pérez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NOMPROPIO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=NOMPROPIO("JUAN PÉREZ")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A24"/>
                          </a:solidFill>
                          <a:latin typeface="Calibri"/>
                        </a:rPr>
                        <a:t>Juan Pérez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32688" y="3977640"/>
            <a:ext cx="10332720" cy="548640"/>
          </a:xfrm>
          <a:prstGeom prst="roundRect">
            <a:avLst>
              <a:gd name="adj" fmla="val 12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77800" tIns="50800" rIns="177800" bIns="50800" rtlCol="0" anchor="ctr"/>
          <a:lstStyle/>
          <a:p>
            <a:pPr algn="ctr"/>
            <a:r>
              <a:rPr sz="1250" i="1">
                <a:solidFill>
                  <a:srgbClr val="5B6B62"/>
                </a:solidFill>
                <a:latin typeface="Calibri"/>
              </a:rPr>
              <a:t>NOMPROPIO es ideal para normalizar listados de nombres introducidos de forma inconsistente.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2 · ANALISIS DE DATOS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LIMPIEZA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La funcion ESPACIOS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722376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Que hace: </a:t>
            </a:r>
            <a:r>
              <a:rPr sz="1600">
                <a:solidFill>
                  <a:srgbClr val="1F2A24"/>
                </a:solidFill>
                <a:latin typeface="Calibri"/>
              </a:rPr>
              <a:t>elimina espacios sobrantes al principio y al final, y reduce a uno los espacios multiples.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Sintaxis: </a:t>
            </a:r>
            <a:r>
              <a:rPr sz="1600">
                <a:solidFill>
                  <a:srgbClr val="1F2A24"/>
                </a:solidFill>
                <a:latin typeface="Calibri"/>
              </a:rPr>
              <a:t>=ESPACIOS(texto)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 b="1">
                <a:solidFill>
                  <a:srgbClr val="1F2A24"/>
                </a:solidFill>
                <a:latin typeface="Calibri"/>
              </a:rPr>
              <a:t>Ejemplo: </a:t>
            </a:r>
            <a:r>
              <a:rPr sz="1600">
                <a:solidFill>
                  <a:srgbClr val="1F2A24"/>
                </a:solidFill>
                <a:latin typeface="Calibri"/>
              </a:rPr>
              <a:t>=ESPACIOS("  Juan  Pérez  ") devuelve "Juan Pérez".</a:t>
            </a:r>
          </a:p>
        </p:txBody>
      </p:sp>
      <p:sp>
        <p:nvSpPr>
          <p:cNvPr id="6" name="Rectangle 5"/>
          <p:cNvSpPr/>
          <p:nvPr/>
        </p:nvSpPr>
        <p:spPr>
          <a:xfrm>
            <a:off x="9235440" y="214884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772650" y="214884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309860" y="214884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847070" y="214884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235440" y="271272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772650" y="271272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309860" y="2712720"/>
            <a:ext cx="508635" cy="535305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847070" y="271272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235440" y="327660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772650" y="327660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309860" y="327660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847070" y="327660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2 · ANALISIS DE DATOS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1202436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SUSTITUIR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SUSTITUIR y REEMPLAZAR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32688" y="1737360"/>
          <a:ext cx="1033272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4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4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Funcion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Sintaxis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Localiza el texto por...</a:t>
                      </a:r>
                    </a:p>
                  </a:txBody>
                  <a:tcPr>
                    <a:solidFill>
                      <a:srgbClr val="0F7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SUSTITUIR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=SUSTITUIR(texto; original; nuevo)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Contenido: busca una cadena concreta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REEMPLAZAR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=REEMPLAZAR(texto; posicion; núm; nuevo)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24"/>
                          </a:solidFill>
                          <a:latin typeface="Calibri"/>
                        </a:rPr>
                        <a:t>Posicion: reemplaza en un lugar fijo</a:t>
                      </a:r>
                    </a:p>
                  </a:txBody>
                  <a:tcPr>
                    <a:solidFill>
                      <a:srgbClr val="E7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32688" y="3474720"/>
            <a:ext cx="10332720" cy="548640"/>
          </a:xfrm>
          <a:prstGeom prst="roundRect">
            <a:avLst>
              <a:gd name="adj" fmla="val 12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77800" tIns="50800" rIns="177800" bIns="50800" rtlCol="0" anchor="ctr"/>
          <a:lstStyle/>
          <a:p>
            <a:pPr algn="ctr"/>
            <a:r>
              <a:rPr sz="1250" i="1">
                <a:solidFill>
                  <a:srgbClr val="5B6B62"/>
                </a:solidFill>
                <a:latin typeface="Calibri"/>
              </a:rPr>
              <a:t>Ejemplo: =SUSTITUIR("01-01-2024";"-";"/") devuelve "01/01/2024".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2 · ANALISIS DE DATOS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B9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992124" cy="310896"/>
          </a:xfrm>
          <a:prstGeom prst="roundRect">
            <a:avLst>
              <a:gd name="adj" fmla="val 50000"/>
            </a:avLst>
          </a:prstGeom>
          <a:solidFill>
            <a:srgbClr val="B9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Calibri"/>
              </a:rPr>
              <a:t>EJEMPLO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2A24"/>
                </a:solidFill>
                <a:latin typeface="Cambria"/>
              </a:rPr>
              <a:t>Ejemplo: combinar funciones de 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103327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F2A24"/>
                </a:solidFill>
                <a:latin typeface="Calibri"/>
              </a:rPr>
              <a:t>ESPACIOS y NOMPROPIO combinadas limpian y normalizan un nombre en una sola formula: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2377440"/>
            <a:ext cx="10332720" cy="685800"/>
          </a:xfrm>
          <a:prstGeom prst="roundRect">
            <a:avLst>
              <a:gd name="adj" fmla="val 8000"/>
            </a:avLst>
          </a:prstGeom>
          <a:solidFill>
            <a:srgbClr val="132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76200" rIns="203200" bIns="76200" rtlCol="0" anchor="ctr"/>
          <a:lstStyle/>
          <a:p>
            <a:pPr algn="ctr"/>
            <a:r>
              <a:rPr sz="1800" b="1">
                <a:solidFill>
                  <a:srgbClr val="E8A33D"/>
                </a:solidFill>
                <a:latin typeface="Consolas"/>
              </a:rPr>
              <a:t>=NOMPROPIO(ESPACIOS(A2))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" y="5715000"/>
            <a:ext cx="1033272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3200" tIns="50800" rIns="203200" bIns="50800" rtlCol="0" anchor="ctr"/>
          <a:lstStyle/>
          <a:p>
            <a:pPr algn="ctr"/>
            <a:r>
              <a:rPr sz="1450" b="1">
                <a:solidFill>
                  <a:srgbClr val="0A4F2A"/>
                </a:solidFill>
                <a:latin typeface="Calibri"/>
              </a:rPr>
              <a:t>Resultado: </a:t>
            </a:r>
            <a:r>
              <a:rPr sz="1450">
                <a:solidFill>
                  <a:srgbClr val="1F2A24"/>
                </a:solidFill>
                <a:latin typeface="Calibri"/>
              </a:rPr>
              <a:t>Si A2 contiene "  JUAN   PÉREZ  ", el resultado es "Juan Pérez".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2 · ANALISIS DE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8328" y="338328"/>
            <a:ext cx="457200" cy="457200"/>
          </a:xfrm>
          <a:prstGeom prst="ellipse">
            <a:avLst/>
          </a:prstGeom>
          <a:solidFill>
            <a:srgbClr val="0F7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36576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0A4F2A"/>
                </a:solidFill>
                <a:latin typeface="Calibri"/>
              </a:rPr>
              <a:t>ERRORES FRECUENTES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132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24"/>
                </a:solidFill>
                <a:latin typeface="Cambria"/>
              </a:rPr>
              <a:t>Errores frecuentes de los alumnos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722376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>
                <a:solidFill>
                  <a:srgbClr val="1F2A24"/>
                </a:solidFill>
                <a:latin typeface="Calibri"/>
              </a:rPr>
              <a:t>Confundir el numero de caracteres con la posicion, sobre todo en EXTRAE.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>
                <a:solidFill>
                  <a:srgbClr val="1F2A24"/>
                </a:solidFill>
                <a:latin typeface="Calibri"/>
              </a:rPr>
              <a:t>Olvidar que estas funciones devuelven texto, aunque el contenido parezca un numero.</a:t>
            </a:r>
          </a:p>
          <a:p>
            <a:pPr marL="256032" indent="-201168" algn="l">
              <a:lnSpc>
                <a:spcPct val="108000"/>
              </a:lnSpc>
              <a:spcAft>
                <a:spcPts val="1000"/>
              </a:spcAft>
              <a:buClr>
                <a:srgbClr val="0F7B3E"/>
              </a:buClr>
              <a:buFont typeface="Arial"/>
              <a:buChar char="▪"/>
            </a:pPr>
            <a:r>
              <a:rPr sz="1600">
                <a:solidFill>
                  <a:srgbClr val="1F2A24"/>
                </a:solidFill>
                <a:latin typeface="Calibri"/>
              </a:rPr>
              <a:t>Con SUSTITUIR: no tener en cuenta que distingue mayusculas de minusculas (“madrid” ≠ “Madrid”).</a:t>
            </a:r>
          </a:p>
        </p:txBody>
      </p:sp>
      <p:sp>
        <p:nvSpPr>
          <p:cNvPr id="6" name="Rectangle 5"/>
          <p:cNvSpPr/>
          <p:nvPr/>
        </p:nvSpPr>
        <p:spPr>
          <a:xfrm>
            <a:off x="9235440" y="214884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772650" y="214884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309860" y="214884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847070" y="214884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235440" y="271272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772650" y="271272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309860" y="2712720"/>
            <a:ext cx="508635" cy="535305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847070" y="271272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235440" y="327660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772650" y="327660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309860" y="3276600"/>
            <a:ext cx="508635" cy="535305"/>
          </a:xfrm>
          <a:prstGeom prst="rect">
            <a:avLst/>
          </a:prstGeom>
          <a:solidFill>
            <a:srgbClr val="F2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847070" y="3276600"/>
            <a:ext cx="508635" cy="535305"/>
          </a:xfrm>
          <a:prstGeom prst="rect">
            <a:avLst/>
          </a:prstGeom>
          <a:solidFill>
            <a:srgbClr val="E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B6B62"/>
                </a:solidFill>
                <a:latin typeface="Calibri"/>
              </a:rPr>
              <a:t>CLASE 2 · ANALISIS DE DATOS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B6B62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2011680" y="3840480"/>
            <a:ext cx="5486400" cy="5486400"/>
          </a:xfrm>
          <a:prstGeom prst="ellipse">
            <a:avLst/>
          </a:prstGeom>
          <a:solidFill>
            <a:srgbClr val="1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200" b="1">
                <a:solidFill>
                  <a:srgbClr val="132019"/>
                </a:solidFill>
                <a:latin typeface="Cambria"/>
              </a:rPr>
              <a:t>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566928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132019"/>
                </a:solidFill>
                <a:latin typeface="Calibri"/>
              </a:rPr>
              <a:t>EJERCICIO PRACTICO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3327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mbria"/>
              </a:rPr>
              <a:t>Ejercicio practico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1033272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E8A33D"/>
                </a:solidFill>
                <a:latin typeface="Calibri"/>
              </a:rPr>
              <a:t>1.  </a:t>
            </a:r>
            <a:r>
              <a:rPr sz="1600">
                <a:solidFill>
                  <a:srgbClr val="EAF3EC"/>
                </a:solidFill>
                <a:latin typeface="Calibri"/>
              </a:rPr>
              <a:t>Crear una tabla con 8 empleados: Nombre completo (en mayusculas, con espacios sobrantes), Codigo (formato DEP-XXXX) y Correo (en minusculas).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E8A33D"/>
                </a:solidFill>
                <a:latin typeface="Calibri"/>
              </a:rPr>
              <a:t>2.  </a:t>
            </a:r>
            <a:r>
              <a:rPr sz="1600">
                <a:solidFill>
                  <a:srgbClr val="EAF3EC"/>
                </a:solidFill>
                <a:latin typeface="Calibri"/>
              </a:rPr>
              <a:t>Obtener el nombre normalizado con NOMPROPIO + ESPACIOS, el departamento con IZQUIERDA y el numero de empleado con DERECHA.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E8A33D"/>
                </a:solidFill>
                <a:latin typeface="Calibri"/>
              </a:rPr>
              <a:t>3.  </a:t>
            </a:r>
            <a:r>
              <a:rPr sz="1600">
                <a:solidFill>
                  <a:srgbClr val="EAF3EC"/>
                </a:solidFill>
                <a:latin typeface="Calibri"/>
              </a:rPr>
              <a:t>Crear “Nombre de usuario” concatenando las dos primeras letras del nombre con el numero de empleado.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E8A33D"/>
                </a:solidFill>
                <a:latin typeface="Calibri"/>
              </a:rPr>
              <a:t>4.  </a:t>
            </a:r>
            <a:r>
              <a:rPr sz="1600">
                <a:solidFill>
                  <a:srgbClr val="EAF3EC"/>
                </a:solidFill>
                <a:latin typeface="Calibri"/>
              </a:rPr>
              <a:t>Usar SUSTITUIR para cambiar el dominio del correo de “@empresa.com” a “@nuevaempresa.es”.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FB3A6"/>
                </a:solidFill>
                <a:latin typeface="Calibri"/>
              </a:rPr>
              <a:t>CLASE 2 · ANALISIS DE DATOS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FB3A6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78240" y="-2194560"/>
            <a:ext cx="5943600" cy="5943600"/>
          </a:xfrm>
          <a:prstGeom prst="ellipse">
            <a:avLst/>
          </a:prstGeom>
          <a:solidFill>
            <a:srgbClr val="1B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Fin del curso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468880"/>
            <a:ext cx="9875520" cy="3474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01168" algn="l">
              <a:lnSpc>
                <a:spcPct val="108000"/>
              </a:lnSpc>
              <a:spcAft>
                <a:spcPts val="1400"/>
              </a:spcAft>
              <a:buClr>
                <a:srgbClr val="E8A33D"/>
              </a:buClr>
              <a:buFont typeface="Arial"/>
              <a:buChar char="▪"/>
            </a:pPr>
            <a:r>
              <a:rPr sz="1700">
                <a:solidFill>
                  <a:srgbClr val="EAF3EC"/>
                </a:solidFill>
                <a:latin typeface="Calibri"/>
              </a:rPr>
              <a:t>Hemos cubierto el analisis de datos: tablas, graficos, referencias avanzadas, la funcion SI, formato condicional, tablas dinamicas y funciones de texto.</a:t>
            </a:r>
          </a:p>
          <a:p>
            <a:pPr marL="256032" indent="-201168" algn="l">
              <a:lnSpc>
                <a:spcPct val="108000"/>
              </a:lnSpc>
              <a:spcAft>
                <a:spcPts val="1400"/>
              </a:spcAft>
              <a:buClr>
                <a:srgbClr val="E8A33D"/>
              </a:buClr>
              <a:buFont typeface="Arial"/>
              <a:buChar char="▪"/>
            </a:pPr>
            <a:r>
              <a:rPr sz="1700">
                <a:solidFill>
                  <a:srgbClr val="EAF3EC"/>
                </a:solidFill>
                <a:latin typeface="Calibri"/>
              </a:rPr>
              <a:t>Entre las dos clases, el curso cubre el ciclo completo: desde introducir un dato hasta construir un informe dinamico y limpio.</a:t>
            </a:r>
          </a:p>
          <a:p>
            <a:pPr marL="256032" indent="-201168" algn="l">
              <a:lnSpc>
                <a:spcPct val="108000"/>
              </a:lnSpc>
              <a:spcAft>
                <a:spcPts val="1400"/>
              </a:spcAft>
              <a:buClr>
                <a:srgbClr val="E8A33D"/>
              </a:buClr>
              <a:buFont typeface="Arial"/>
              <a:buChar char="▪"/>
            </a:pPr>
            <a:r>
              <a:rPr sz="1700">
                <a:solidFill>
                  <a:srgbClr val="EAF3EC"/>
                </a:solidFill>
                <a:latin typeface="Calibri"/>
              </a:rPr>
              <a:t>Siguiente paso: practicar con datos propios y consolidar lo aprendido en ambas sesiones.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126480"/>
            <a:ext cx="9875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9FB3A6"/>
                </a:solidFill>
                <a:latin typeface="Calibri"/>
              </a:rPr>
              <a:t>Gracias por vuestra participacion en el curso de Microsoft Excel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F2B76C5-0C1A-4A46-9B22-D450E25BFA68}">
  <we:reference id="wa200010725" version="1.0.0.1" store="es-ES" storeType="OMEX"/>
  <we:alternateReferences>
    <we:reference id="wa200010725" version="1.0.0.1" store="WA200010725" storeType="OMEX"/>
  </we:alternateReferences>
  <we:properties>
    <we:property name="claude.fileId" value="&quot;dcaeae5b-9b88-4c3e-bd57-bf1df9210f3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3658</Words>
  <Application>Microsoft Office PowerPoint</Application>
  <PresentationFormat>Panorámica</PresentationFormat>
  <Paragraphs>598</Paragraphs>
  <Slides>60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60</vt:i4>
      </vt:variant>
    </vt:vector>
  </HeadingPairs>
  <TitlesOfParts>
    <vt:vector size="65" baseType="lpstr">
      <vt:lpstr>Arial</vt:lpstr>
      <vt:lpstr>Calibri</vt:lpstr>
      <vt:lpstr>Cambria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Antonio D. Ambunan</cp:lastModifiedBy>
  <cp:revision>2</cp:revision>
  <dcterms:created xsi:type="dcterms:W3CDTF">2013-01-27T09:14:16Z</dcterms:created>
  <dcterms:modified xsi:type="dcterms:W3CDTF">2026-07-06T18:40:03Z</dcterms:modified>
  <cp:category/>
</cp:coreProperties>
</file>