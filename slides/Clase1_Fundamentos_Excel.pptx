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0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379" r:id="rId36"/>
    <p:sldId id="380" r:id="rId37"/>
    <p:sldId id="381" r:id="rId38"/>
    <p:sldId id="382" r:id="rId39"/>
    <p:sldId id="383" r:id="rId40"/>
    <p:sldId id="384" r:id="rId41"/>
    <p:sldId id="385" r:id="rId42"/>
    <p:sldId id="386" r:id="rId43"/>
    <p:sldId id="387" r:id="rId44"/>
    <p:sldId id="388" r:id="rId45"/>
    <p:sldId id="389" r:id="rId46"/>
    <p:sldId id="390" r:id="rId47"/>
    <p:sldId id="391" r:id="rId48"/>
    <p:sldId id="392" r:id="rId49"/>
    <p:sldId id="393" r:id="rId50"/>
    <p:sldId id="394" r:id="rId51"/>
    <p:sldId id="395" r:id="rId52"/>
    <p:sldId id="396" r:id="rId53"/>
    <p:sldId id="397" r:id="rId54"/>
    <p:sldId id="398" r:id="rId55"/>
    <p:sldId id="399" r:id="rId56"/>
    <p:sldId id="400" r:id="rId57"/>
    <p:sldId id="401" r:id="rId58"/>
    <p:sldId id="402" r:id="rId59"/>
    <p:sldId id="403" r:id="rId60"/>
    <p:sldId id="404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0A4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051560"/>
            <a:ext cx="2464308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CLASE 1 ·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98755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mbria"/>
              </a:rPr>
              <a:t>Curso de Microsoft Excel</a:t>
            </a:r>
          </a:p>
          <a:p>
            <a:pPr algn="l"/>
            <a:r>
              <a:rPr sz="4600" b="1">
                <a:solidFill>
                  <a:srgbClr val="FFFFFF"/>
                </a:solidFill>
                <a:latin typeface="Cambria"/>
              </a:rPr>
              <a:t>Clase 1: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CFE3D6"/>
                </a:solidFill>
                <a:latin typeface="Calibri"/>
              </a:rPr>
              <a:t>Del entorno de trabajo a las formulas y funciones esenciales para el dia a 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27000" rIns="127000" bIns="101600" rtlCol="0" anchor="ctr"/>
          <a:lstStyle/>
          <a:p>
            <a:pPr algn="l"/>
            <a:r>
              <a:rPr sz="1800" b="1">
                <a:solidFill>
                  <a:srgbClr val="E8A33D"/>
                </a:solidFill>
                <a:latin typeface="Cambria"/>
              </a:rPr>
              <a:t>Duracion</a:t>
            </a:r>
          </a:p>
          <a:p>
            <a:pPr algn="l"/>
            <a:r>
              <a:rPr sz="1100">
                <a:solidFill>
                  <a:srgbClr val="9FB3A6"/>
                </a:solidFill>
                <a:latin typeface="Calibri"/>
              </a:rPr>
              <a:t>6 horas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507492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27000" rIns="127000" bIns="101600" rtlCol="0" anchor="ctr"/>
          <a:lstStyle/>
          <a:p>
            <a:pPr algn="l"/>
            <a:r>
              <a:rPr sz="1800" b="1">
                <a:solidFill>
                  <a:srgbClr val="E8A33D"/>
                </a:solidFill>
                <a:latin typeface="Cambria"/>
              </a:rPr>
              <a:t>Contenido</a:t>
            </a:r>
          </a:p>
          <a:p>
            <a:pPr algn="l"/>
            <a:r>
              <a:rPr sz="1100">
                <a:solidFill>
                  <a:srgbClr val="9FB3A6"/>
                </a:solidFill>
                <a:latin typeface="Calibri"/>
              </a:rPr>
              <a:t>Apartados 1-12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07492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27000" rIns="127000" bIns="101600" rtlCol="0" anchor="ctr"/>
          <a:lstStyle/>
          <a:p>
            <a:pPr algn="l"/>
            <a:r>
              <a:rPr sz="1800" b="1">
                <a:solidFill>
                  <a:srgbClr val="E8A33D"/>
                </a:solidFill>
                <a:latin typeface="Cambria"/>
              </a:rPr>
              <a:t>Nivel</a:t>
            </a:r>
          </a:p>
          <a:p>
            <a:pPr algn="l"/>
            <a:r>
              <a:rPr sz="1100">
                <a:solidFill>
                  <a:srgbClr val="9FB3A6"/>
                </a:solidFill>
                <a:latin typeface="Calibri"/>
              </a:rPr>
              <a:t>Iniciacion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2464308" cy="310896"/>
          </a:xfrm>
          <a:prstGeom prst="roundRect">
            <a:avLst>
              <a:gd name="adj" fmla="val 50000"/>
            </a:avLst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CLASE 1 ·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F2A24"/>
                </a:solidFill>
                <a:latin typeface="Cambria"/>
              </a:rPr>
              <a:t>Indice de la Clase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440680" cy="2788920"/>
          </a:xfrm>
          <a:prstGeom prst="roundRect">
            <a:avLst>
              <a:gd name="adj" fmla="val 6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79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7B3E"/>
                </a:solidFill>
                <a:latin typeface="Calibri"/>
              </a:rPr>
              <a:t>Entorno y datos</a:t>
            </a:r>
          </a:p>
        </p:txBody>
      </p:sp>
      <p:sp>
        <p:nvSpPr>
          <p:cNvPr id="6" name="Oval 5"/>
          <p:cNvSpPr/>
          <p:nvPr/>
        </p:nvSpPr>
        <p:spPr>
          <a:xfrm>
            <a:off x="877824" y="2377439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377439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Que es Excel</a:t>
            </a:r>
          </a:p>
        </p:txBody>
      </p:sp>
      <p:sp>
        <p:nvSpPr>
          <p:cNvPr id="8" name="Oval 7"/>
          <p:cNvSpPr/>
          <p:nvPr/>
        </p:nvSpPr>
        <p:spPr>
          <a:xfrm>
            <a:off x="877824" y="2724911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24911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Definiciones</a:t>
            </a:r>
          </a:p>
        </p:txBody>
      </p:sp>
      <p:sp>
        <p:nvSpPr>
          <p:cNvPr id="10" name="Oval 9"/>
          <p:cNvSpPr/>
          <p:nvPr/>
        </p:nvSpPr>
        <p:spPr>
          <a:xfrm>
            <a:off x="877824" y="3072383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72383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Iniciar Excel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3419855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19855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Gestion de archivos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767327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67327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Creacion de libros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4114799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14799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Identificar celdas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874519"/>
            <a:ext cx="5440680" cy="2788920"/>
          </a:xfrm>
          <a:prstGeom prst="roundRect">
            <a:avLst>
              <a:gd name="adj" fmla="val 6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011679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7B3E"/>
                </a:solidFill>
                <a:latin typeface="Calibri"/>
              </a:rPr>
              <a:t>Estructura y calculo</a:t>
            </a:r>
          </a:p>
        </p:txBody>
      </p:sp>
      <p:sp>
        <p:nvSpPr>
          <p:cNvPr id="20" name="Oval 19"/>
          <p:cNvSpPr/>
          <p:nvPr/>
        </p:nvSpPr>
        <p:spPr>
          <a:xfrm>
            <a:off x="6775704" y="2377439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377439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Insertar valores</a:t>
            </a:r>
          </a:p>
        </p:txBody>
      </p:sp>
      <p:sp>
        <p:nvSpPr>
          <p:cNvPr id="22" name="Oval 21"/>
          <p:cNvSpPr/>
          <p:nvPr/>
        </p:nvSpPr>
        <p:spPr>
          <a:xfrm>
            <a:off x="6775704" y="2724911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724911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Dar formato</a:t>
            </a:r>
          </a:p>
        </p:txBody>
      </p:sp>
      <p:sp>
        <p:nvSpPr>
          <p:cNvPr id="24" name="Oval 23"/>
          <p:cNvSpPr/>
          <p:nvPr/>
        </p:nvSpPr>
        <p:spPr>
          <a:xfrm>
            <a:off x="6775704" y="3072383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072383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Agregar/quitar celdas</a:t>
            </a:r>
          </a:p>
        </p:txBody>
      </p:sp>
      <p:sp>
        <p:nvSpPr>
          <p:cNvPr id="26" name="Oval 25"/>
          <p:cNvSpPr/>
          <p:nvPr/>
        </p:nvSpPr>
        <p:spPr>
          <a:xfrm>
            <a:off x="6775704" y="3419855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419855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Columnas y filas</a:t>
            </a:r>
          </a:p>
        </p:txBody>
      </p:sp>
      <p:sp>
        <p:nvSpPr>
          <p:cNvPr id="28" name="Oval 27"/>
          <p:cNvSpPr/>
          <p:nvPr/>
        </p:nvSpPr>
        <p:spPr>
          <a:xfrm>
            <a:off x="6775704" y="3767327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767327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Escribir formulas</a:t>
            </a:r>
          </a:p>
        </p:txBody>
      </p:sp>
      <p:sp>
        <p:nvSpPr>
          <p:cNvPr id="30" name="Oval 29"/>
          <p:cNvSpPr/>
          <p:nvPr/>
        </p:nvSpPr>
        <p:spPr>
          <a:xfrm>
            <a:off x="6775704" y="4114799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114799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Funciones basicas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</p:spTree>
    <p:extLst>
      <p:ext uri="{BB962C8B-B14F-4D97-AF65-F5344CB8AC3E}">
        <p14:creationId xmlns:p14="http://schemas.microsoft.com/office/powerpoint/2010/main" val="1940835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Que es Microsoft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Una primera vuelta a que es Excel y para que se usa en el dia a 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CONCEPTO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Que es Microsoft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Hoja de calculo: </a:t>
            </a:r>
            <a:r>
              <a:rPr sz="1600">
                <a:solidFill>
                  <a:srgbClr val="1F2A24"/>
                </a:solidFill>
                <a:latin typeface="Calibri"/>
              </a:rPr>
              <a:t>aplicacion de Microsoft, integrada en Office y Microsoft 365.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Su funcion: </a:t>
            </a:r>
            <a:r>
              <a:rPr sz="1600">
                <a:solidFill>
                  <a:srgbClr val="1F2A24"/>
                </a:solidFill>
                <a:latin typeface="Calibri"/>
              </a:rPr>
              <a:t>introducir, organizar, analizar y representar datos de forma rapida.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Caracteristica clave: </a:t>
            </a:r>
            <a:r>
              <a:rPr sz="1600">
                <a:solidFill>
                  <a:srgbClr val="1F2A24"/>
                </a:solidFill>
                <a:latin typeface="Calibri"/>
              </a:rPr>
              <a:t>el calculo automatico. Al cambiar un dato, los resultados relacionados se actualizan solos.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USOS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Para que se utiliza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Mas alla del calculo: </a:t>
            </a:r>
            <a:r>
              <a:rPr sz="1600">
                <a:solidFill>
                  <a:srgbClr val="1F2A24"/>
                </a:solidFill>
                <a:latin typeface="Calibri"/>
              </a:rPr>
              <a:t>ordenar informacion, aplicar formatos, crear graficos y elaborar informes.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Analisis: </a:t>
            </a:r>
            <a:r>
              <a:rPr sz="1600">
                <a:solidFill>
                  <a:srgbClr val="1F2A24"/>
                </a:solidFill>
                <a:latin typeface="Calibri"/>
              </a:rPr>
              <a:t>permite trabajar con grandes volumenes de datos de forma organizada.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Departamentos habituales: </a:t>
            </a:r>
            <a:r>
              <a:rPr sz="1600">
                <a:solidFill>
                  <a:srgbClr val="1F2A24"/>
                </a:solidFill>
                <a:latin typeface="Calibri"/>
              </a:rPr>
              <a:t>administracion, contabilidad, recursos humanos, logistica y finanzas.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Definiciones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El vocabulario basico de Excel: libro, hoja, celda, rango, formula y funcion.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DEFINICIONES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Libro y hoja de calculo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Libro: </a:t>
            </a:r>
            <a:r>
              <a:rPr sz="1600">
                <a:solidFill>
                  <a:srgbClr val="1F2A24"/>
                </a:solidFill>
                <a:latin typeface="Calibri"/>
              </a:rPr>
              <a:t>el archivo que se guarda en Excel (extension .xlsx).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Puede contener: </a:t>
            </a:r>
            <a:r>
              <a:rPr sz="1600">
                <a:solidFill>
                  <a:srgbClr val="1F2A24"/>
                </a:solidFill>
                <a:latin typeface="Calibri"/>
              </a:rPr>
              <a:t>una o varias hojas de calculo relacionadas.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Ejemplo: </a:t>
            </a:r>
            <a:r>
              <a:rPr sz="1600">
                <a:solidFill>
                  <a:srgbClr val="1F2A24"/>
                </a:solidFill>
                <a:latin typeface="Calibri"/>
              </a:rPr>
              <a:t>un libro “Control de ventas 2026” con una hoja por trimestre.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Hoja de calculo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Es el espacio: </a:t>
            </a:r>
            <a:r>
              <a:rPr sz="1600">
                <a:solidFill>
                  <a:srgbClr val="1F2A24"/>
                </a:solidFill>
                <a:latin typeface="Calibri"/>
              </a:rPr>
              <a:t>donde se introducen y manipulan realmente los datos.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Estructura: </a:t>
            </a:r>
            <a:r>
              <a:rPr sz="1600">
                <a:solidFill>
                  <a:srgbClr val="1F2A24"/>
                </a:solidFill>
                <a:latin typeface="Calibri"/>
              </a:rPr>
              <a:t>una cuadricula de filas y columnas.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Todas comparten formato </a:t>
            </a:r>
            <a:r>
              <a:rPr sz="1600">
                <a:solidFill>
                  <a:srgbClr val="1F2A24"/>
                </a:solidFill>
                <a:latin typeface="Calibri"/>
              </a:rPr>
              <a:t>pero pueden usarse de forma independiente o relacionada.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DEFINICIONES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Filas y columnas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Filas: </a:t>
            </a:r>
            <a:r>
              <a:rPr sz="1600">
                <a:solidFill>
                  <a:srgbClr val="1F2A24"/>
                </a:solidFill>
                <a:latin typeface="Calibri"/>
              </a:rPr>
              <a:t>lineas horizontales, identificadas con numeros (1, 2, 3...).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Cada fila: </a:t>
            </a:r>
            <a:r>
              <a:rPr sz="1600">
                <a:solidFill>
                  <a:srgbClr val="1F2A24"/>
                </a:solidFill>
                <a:latin typeface="Calibri"/>
              </a:rPr>
              <a:t>suele contener un registro completo (ej. un cliente).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Columnas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Columnas: </a:t>
            </a:r>
            <a:r>
              <a:rPr sz="1600">
                <a:solidFill>
                  <a:srgbClr val="1F2A24"/>
                </a:solidFill>
                <a:latin typeface="Calibri"/>
              </a:rPr>
              <a:t>lineas verticales, identificadas con letras (A, B, C...).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Tras la Z: </a:t>
            </a:r>
            <a:r>
              <a:rPr sz="1600">
                <a:solidFill>
                  <a:srgbClr val="1F2A24"/>
                </a:solidFill>
                <a:latin typeface="Calibri"/>
              </a:rPr>
              <a:t>Excel continua con AA, AB, AC...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Uso tipico: </a:t>
            </a:r>
            <a:r>
              <a:rPr sz="1600">
                <a:solidFill>
                  <a:srgbClr val="1F2A24"/>
                </a:solidFill>
                <a:latin typeface="Calibri"/>
              </a:rPr>
              <a:t>cada columna almacena un tipo de dato (nombre, telefono, ciudad).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A24"/>
                </a:solidFill>
                <a:latin typeface="Cambria"/>
              </a:rPr>
              <a:t>Ejemplo: celda y referencia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A24"/>
                </a:solidFill>
                <a:latin typeface="Calibri"/>
              </a:rPr>
              <a:t>La celda es la interseccion entre una fila y una columna; su referencia combina letra de columna + numero de fila.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37744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132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76200" rIns="203200" bIns="76200" rtlCol="0" anchor="ctr"/>
          <a:lstStyle/>
          <a:p>
            <a:pPr algn="ctr"/>
            <a:r>
              <a:rPr sz="1800" b="1">
                <a:solidFill>
                  <a:srgbClr val="E8A33D"/>
                </a:solidFill>
                <a:latin typeface="Consolas"/>
              </a:rPr>
              <a:t>A1  ·  C8  ·  F15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9184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A1 = columna A, fila 1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C8 = columna C, fila 8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F15 = columna F, fila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571500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pPr algn="ctr"/>
            <a:r>
              <a:rPr sz="1450" b="1">
                <a:solidFill>
                  <a:srgbClr val="0A4F2A"/>
                </a:solidFill>
                <a:latin typeface="Calibri"/>
              </a:rPr>
              <a:t>Resultado: </a:t>
            </a:r>
            <a:r>
              <a:rPr sz="1450">
                <a:solidFill>
                  <a:srgbClr val="1F2A24"/>
                </a:solidFill>
                <a:latin typeface="Calibri"/>
              </a:rPr>
              <a:t>La celda seleccionada (celda activa) se reconoce por un borde mas grueso y su referencia aparece en el cuadro de nombres.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DEFINICIONES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Rango de celdas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Rango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Significado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onsolas"/>
                        </a:rPr>
                        <a:t>A1:A10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Desde A1 hasta A10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onsolas"/>
                        </a:rPr>
                        <a:t>B2:D8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Rectangulo comprendido entre ambas celdas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onsolas"/>
                        </a:rPr>
                        <a:t>C5:F5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Varias columnas de una misma fila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32688" y="3977640"/>
            <a:ext cx="10332720" cy="548640"/>
          </a:xfrm>
          <a:prstGeom prst="roundRect">
            <a:avLst>
              <a:gd name="adj" fmla="val 12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pPr algn="ctr"/>
            <a:r>
              <a:rPr sz="1250" i="1">
                <a:solidFill>
                  <a:srgbClr val="5B6B62"/>
                </a:solidFill>
                <a:latin typeface="Calibri"/>
              </a:rPr>
              <a:t>Un rango es un conjunto de celdas contiguas; se usa para aplicar formatos, calculos o graficos a la vez.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DEFINICIONES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Tipos de dato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Tipo de dato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Cliente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Numero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15/09/2026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Hora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09:30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Moneda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125,50 €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Porcentaje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18 %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32688" y="5486400"/>
            <a:ext cx="10332720" cy="548640"/>
          </a:xfrm>
          <a:prstGeom prst="roundRect">
            <a:avLst>
              <a:gd name="adj" fmla="val 12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pPr algn="ctr"/>
            <a:r>
              <a:rPr sz="1250" i="1">
                <a:solidFill>
                  <a:srgbClr val="5B6B62"/>
                </a:solidFill>
                <a:latin typeface="Calibri"/>
              </a:rPr>
              <a:t>Excel reconoce automaticamente el tipo de dato y adapta su comportamiento (calculo, formato).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DEFINICIONES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Formula y funcion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Formula: </a:t>
            </a:r>
            <a:r>
              <a:rPr sz="1600">
                <a:solidFill>
                  <a:srgbClr val="1F2A24"/>
                </a:solidFill>
                <a:latin typeface="Calibri"/>
              </a:rPr>
              <a:t>expresion que empieza por = y realiza un calculo (=A1+B1).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Se actualiza sola: </a:t>
            </a:r>
            <a:r>
              <a:rPr sz="1600">
                <a:solidFill>
                  <a:srgbClr val="1F2A24"/>
                </a:solidFill>
                <a:latin typeface="Calibri"/>
              </a:rPr>
              <a:t>si cambia un valor usado en la formula, el resultado tambien.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Funcion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Funcion: </a:t>
            </a:r>
            <a:r>
              <a:rPr sz="1600">
                <a:solidFill>
                  <a:srgbClr val="1F2A24"/>
                </a:solidFill>
                <a:latin typeface="Calibri"/>
              </a:rPr>
              <a:t>formula ya preparada por Excel (=SUMA, =PROMEDIO...).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Solo hace falta: </a:t>
            </a:r>
            <a:r>
              <a:rPr sz="1600">
                <a:solidFill>
                  <a:srgbClr val="1F2A24"/>
                </a:solidFill>
                <a:latin typeface="Calibri"/>
              </a:rPr>
              <a:t>indicar el nombre y el rango de celdas.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DEFINICIONES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Barra de formulas y cuadro de nombres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Barra de formulas: </a:t>
            </a:r>
            <a:r>
              <a:rPr sz="1600">
                <a:solidFill>
                  <a:srgbClr val="1F2A24"/>
                </a:solidFill>
                <a:latin typeface="Calibri"/>
              </a:rPr>
              <a:t>muestra el contenido real de la celda activa (la formula, no solo el resultado).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Se situa: </a:t>
            </a:r>
            <a:r>
              <a:rPr sz="1600">
                <a:solidFill>
                  <a:srgbClr val="1F2A24"/>
                </a:solidFill>
                <a:latin typeface="Calibri"/>
              </a:rPr>
              <a:t>debajo de la cinta de opciones.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Cuadro de nombres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Cuadro de nombres: </a:t>
            </a:r>
            <a:r>
              <a:rPr sz="1600">
                <a:solidFill>
                  <a:srgbClr val="1F2A24"/>
                </a:solidFill>
                <a:latin typeface="Calibri"/>
              </a:rPr>
              <a:t>indica la referencia de la celda activa.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Atajo util: </a:t>
            </a:r>
            <a:r>
              <a:rPr sz="1600">
                <a:solidFill>
                  <a:srgbClr val="1F2A24"/>
                </a:solidFill>
                <a:latin typeface="Calibri"/>
              </a:rPr>
              <a:t>escribe una referencia (ej. G250) y pulsa Intro para saltar directamente.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DEFINICIONES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La cinta de opciones: pestañas principales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Pestaña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Funcion principal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Archivo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Crear, abrir, guardar e imprimir libros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Inicio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Formato, edicion y portapapeles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Insertar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Tablas, imagenes y graficos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Formulas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Funciones y auditoria de calculos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Ordenacion, filtros e importacion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Revisar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Ortografia, comentarios y proteccion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Vista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Organizacion de ventanas y visualizacion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Glosario de conceptos fundamentales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Definicion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Libro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Archivo de Excel con una o varias hojas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Hoja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Espacio de trabajo con filas y columnas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Fila / Columna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Linea horizontal / vertical de la hoja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Celda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Interseccion entre una fila y una columna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Referencia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Direccion que identifica una celda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Rango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Conjunto de celdas seleccionadas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Formula / Funcion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Expresion de calculo / formula predefinida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Iniciar Microsoft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Formas de abrir el programa y primer contacto con la ventana principal.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PUESTA EN MARCHA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Formas de iniciar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Desde el menu Inicio: </a:t>
            </a:r>
            <a:r>
              <a:rPr sz="1600">
                <a:solidFill>
                  <a:srgbClr val="1F2A24"/>
                </a:solidFill>
                <a:latin typeface="Calibri"/>
              </a:rPr>
              <a:t>buscar “Excel” y seleccionar la aplicacion.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Desde un acceso directo: </a:t>
            </a:r>
            <a:r>
              <a:rPr sz="1600">
                <a:solidFill>
                  <a:srgbClr val="1F2A24"/>
                </a:solidFill>
                <a:latin typeface="Calibri"/>
              </a:rPr>
              <a:t>doble clic sobre el icono del escritorio.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Desde la barra de tareas: </a:t>
            </a:r>
            <a:r>
              <a:rPr sz="1600">
                <a:solidFill>
                  <a:srgbClr val="1F2A24"/>
                </a:solidFill>
                <a:latin typeface="Calibri"/>
              </a:rPr>
              <a:t>un clic si el programa esta anclado.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Abriendo un archivo existente: </a:t>
            </a:r>
            <a:r>
              <a:rPr sz="1600">
                <a:solidFill>
                  <a:srgbClr val="1F2A24"/>
                </a:solidFill>
                <a:latin typeface="Calibri"/>
              </a:rPr>
              <a:t>doble clic sobre un libro ya creado.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PUESTA EN MARCHA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Extensiones de archivo mas habituales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Extension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Descripcion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Libro de Excel (formato actual)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.xls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Libro de versiones anteriores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.xlsm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Libro que contiene macros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.xltx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Plantilla de Excel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PANTALLA DE INICIO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La pantalla de inicio y las plantillas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Desde aqui se puede: </a:t>
            </a:r>
            <a:r>
              <a:rPr sz="1600">
                <a:solidFill>
                  <a:srgbClr val="1F2A24"/>
                </a:solidFill>
                <a:latin typeface="Calibri"/>
              </a:rPr>
              <a:t>crear un libro en blanco, usar una plantilla, abrir recientes o acceder a la cuenta.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Libro en blanco: </a:t>
            </a:r>
            <a:r>
              <a:rPr sz="1600">
                <a:solidFill>
                  <a:srgbClr val="1F2A24"/>
                </a:solidFill>
                <a:latin typeface="Calibri"/>
              </a:rPr>
              <a:t>la opcion mas utilizada; recibe el nombre provisional Libro1.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Plantillas disponibles: </a:t>
            </a:r>
            <a:r>
              <a:rPr sz="1600">
                <a:solidFill>
                  <a:srgbClr val="1F2A24"/>
                </a:solidFill>
                <a:latin typeface="Calibri"/>
              </a:rPr>
              <a:t>presupuestos, calendarios, facturas, inventarios, horarios...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204368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VENTANA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Elementos de la ventana principal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Funcion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Barra de titulo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Nombre del libro y de la aplicacion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Barra de acceso rapido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Comandos frecuentes (Guardar, Deshacer)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Cinta de opciones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Todas las herramientas organizadas por pestañas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Cuadro de nombres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Referencia de la celda activa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Barra de formulas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Introducir o modificar el contenido de una celda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Pestañas de hojas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Cambiar entre las hojas del libro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Barra de 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Informacion sobre la seleccion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88696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Cerrar Microsoft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Boton Cerrar (X): </a:t>
            </a:r>
            <a:r>
              <a:rPr sz="1600">
                <a:solidFill>
                  <a:srgbClr val="1F2A24"/>
                </a:solidFill>
                <a:latin typeface="Calibri"/>
              </a:rPr>
              <a:t>en la esquina superior derecha de la ventana.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Archivo &gt; Salir: </a:t>
            </a:r>
            <a:r>
              <a:rPr sz="1600">
                <a:solidFill>
                  <a:srgbClr val="1F2A24"/>
                </a:solidFill>
                <a:latin typeface="Calibri"/>
              </a:rPr>
              <a:t>desde la pestaña Archivo.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Atajo de teclado: </a:t>
            </a:r>
            <a:r>
              <a:rPr sz="1600">
                <a:solidFill>
                  <a:srgbClr val="1F2A24"/>
                </a:solidFill>
                <a:latin typeface="Calibri"/>
              </a:rPr>
              <a:t>Alt + F4.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Buena practica: </a:t>
            </a:r>
            <a:r>
              <a:rPr sz="1600">
                <a:solidFill>
                  <a:srgbClr val="1F2A24"/>
                </a:solidFill>
                <a:latin typeface="Calibri"/>
              </a:rPr>
              <a:t>guardar el trabajo antes de cerrar el programa.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Abrir y gestionar libros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La pestaña Archivo: crear, abrir, guardar, imprimir y compartir libros de Excel.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</p:spTree>
    <p:extLst>
      <p:ext uri="{BB962C8B-B14F-4D97-AF65-F5344CB8AC3E}">
        <p14:creationId xmlns:p14="http://schemas.microsoft.com/office/powerpoint/2010/main" val="4028374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83337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PESTAÑA ARCHIVO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Opciones principales de la pestaña Archivo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Funcion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Nuevo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Crear un libro nuevo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Abrir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Acceder a un libro existente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Guardar / Guardar como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Almacenar cambios / crear una 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Imprimir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Configurar e imprimir el documento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Compartir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Enviar o compartir el libro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Exportar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Guardar en otro formato (ej. PDF)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Cuenta / Opciones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Gestionar cuenta y personalizar 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96517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62306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CREAR Y ABRIR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Crear un libro nuevo y abrir uno existente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Libro en blanco: </a:t>
            </a:r>
            <a:r>
              <a:rPr sz="1600">
                <a:solidFill>
                  <a:srgbClr val="1F2A24"/>
                </a:solidFill>
                <a:latin typeface="Calibri"/>
              </a:rPr>
              <a:t>la opcion mas habitual para empezar desde cero.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Plantillas: </a:t>
            </a:r>
            <a:r>
              <a:rPr sz="1600">
                <a:solidFill>
                  <a:srgbClr val="1F2A24"/>
                </a:solidFill>
                <a:latin typeface="Calibri"/>
              </a:rPr>
              <a:t>diseños listos para presupuestos, facturas, inventarios...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Abrir un libro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Archivo &gt; Abrir: </a:t>
            </a:r>
            <a:r>
              <a:rPr sz="1600">
                <a:solidFill>
                  <a:srgbClr val="1F2A24"/>
                </a:solidFill>
                <a:latin typeface="Calibri"/>
              </a:rPr>
              <a:t>elegir ubicacion y seleccionar el libro.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Documentos recientes: </a:t>
            </a:r>
            <a:r>
              <a:rPr sz="1600">
                <a:solidFill>
                  <a:srgbClr val="1F2A24"/>
                </a:solidFill>
                <a:latin typeface="Calibri"/>
              </a:rPr>
              <a:t>acceso rapido a los archivos usados con frecuencia.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23229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GUARDAR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Guardar frente a Guardar como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Guardar: </a:t>
            </a:r>
            <a:r>
              <a:rPr sz="1600">
                <a:solidFill>
                  <a:srgbClr val="1F2A24"/>
                </a:solidFill>
                <a:latin typeface="Calibri"/>
              </a:rPr>
              <a:t>actualiza el mismo archivo (Ctrl + G).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Primera vez: </a:t>
            </a:r>
            <a:r>
              <a:rPr sz="1600">
                <a:solidFill>
                  <a:srgbClr val="1F2A24"/>
                </a:solidFill>
                <a:latin typeface="Calibri"/>
              </a:rPr>
              <a:t>hay que indicar nombre, carpeta y formato.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Guardar como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Crea una copia: </a:t>
            </a:r>
            <a:r>
              <a:rPr sz="1600">
                <a:solidFill>
                  <a:srgbClr val="1F2A24"/>
                </a:solidFill>
                <a:latin typeface="Calibri"/>
              </a:rPr>
              <a:t>sin modificar el archivo original.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Util para: </a:t>
            </a:r>
            <a:r>
              <a:rPr sz="1600">
                <a:solidFill>
                  <a:srgbClr val="1F2A24"/>
                </a:solidFill>
                <a:latin typeface="Calibri"/>
              </a:rPr>
              <a:t>cambiar nombre, formato o generar versiones distintas.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09883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FORMATOS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Formatos de archivo mas habituales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Formato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Descripcion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Formato estandar de 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.xls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Compatible con versiones antiguas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.xlsm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Libro que contiene macros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.csv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Valores separados por comas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Documento preparado para lectura o impresion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70030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202436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IMPRESION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Imprimir un libro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La configuracion se realiza desde Archivo &gt; Imprimir.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Permite elegir impresora, numero de copias, orientacion y tamaño del papel.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La vista previa muestra como quedara el documento antes de imprimir.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Revisar siempre la vista previa evita cortes de informacion o errores de formato.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240266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202436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COMPARTIR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Exportar y compartir un libro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Exportar a PDF: </a:t>
            </a:r>
            <a:r>
              <a:rPr sz="1600">
                <a:solidFill>
                  <a:srgbClr val="1F2A24"/>
                </a:solidFill>
                <a:latin typeface="Calibri"/>
              </a:rPr>
              <a:t>conserva el diseño y no requiere tener Excel para verlo.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Ideal para: </a:t>
            </a:r>
            <a:r>
              <a:rPr sz="1600">
                <a:solidFill>
                  <a:srgbClr val="1F2A24"/>
                </a:solidFill>
                <a:latin typeface="Calibri"/>
              </a:rPr>
              <a:t>informes, presupuestos o documentos definitivos.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Compartir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Desde OneDrive/SharePoint: </a:t>
            </a:r>
            <a:r>
              <a:rPr sz="1600">
                <a:solidFill>
                  <a:srgbClr val="1F2A24"/>
                </a:solidFill>
                <a:latin typeface="Calibri"/>
              </a:rPr>
              <a:t>varias personas pueden trabajar a la vez.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Permisos: </a:t>
            </a:r>
            <a:r>
              <a:rPr sz="1600">
                <a:solidFill>
                  <a:srgbClr val="1F2A24"/>
                </a:solidFill>
                <a:latin typeface="Calibri"/>
              </a:rPr>
              <a:t>visualizar, modificar o solo comentar.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70312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BUENAS PRACTICAS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Buenas practicas en la gestion de archivos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Guardar el documento inmediatamente despues de crearlo.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Usar nombres descriptivos y organizar los libros en carpetas por proyecto.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Realizar copias de seguridad de los documentos importantes.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Revisar la vista previa antes de imprimir y usar PDF para compartir solo lectura.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24014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Creacion de libros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Crear un libro nuevo y organizar su contenido en varias hojas.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</p:spTree>
    <p:extLst>
      <p:ext uri="{BB962C8B-B14F-4D97-AF65-F5344CB8AC3E}">
        <p14:creationId xmlns:p14="http://schemas.microsoft.com/office/powerpoint/2010/main" val="12711487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41274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LIBRO NUEVO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Crear un libro y trabajar con hojas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Crear libro: </a:t>
            </a:r>
            <a:r>
              <a:rPr sz="1600">
                <a:solidFill>
                  <a:srgbClr val="1F2A24"/>
                </a:solidFill>
                <a:latin typeface="Calibri"/>
              </a:rPr>
              <a:t>Archivo &gt; Nuevo &gt; Libro en blanco.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Nombre provisional: </a:t>
            </a:r>
            <a:r>
              <a:rPr sz="1600">
                <a:solidFill>
                  <a:srgbClr val="1F2A24"/>
                </a:solidFill>
                <a:latin typeface="Calibri"/>
              </a:rPr>
              <a:t>Libro1, hasta que se guarda por primera vez.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Trabajar con hojas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Añadir hojas: </a:t>
            </a:r>
            <a:r>
              <a:rPr sz="1600">
                <a:solidFill>
                  <a:srgbClr val="1F2A24"/>
                </a:solidFill>
                <a:latin typeface="Calibri"/>
              </a:rPr>
              <a:t>boton + junto a las pestañas existentes.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Organizacion: </a:t>
            </a:r>
            <a:r>
              <a:rPr sz="1600">
                <a:solidFill>
                  <a:srgbClr val="1F2A24"/>
                </a:solidFill>
                <a:latin typeface="Calibri"/>
              </a:rPr>
              <a:t>una hoja por tema (ventas, clientes, inventario...).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23985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ORGANIZACION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Nombrar hojas y guardar el libro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Cambiar nombre: </a:t>
            </a:r>
            <a:r>
              <a:rPr sz="1600">
                <a:solidFill>
                  <a:srgbClr val="1F2A24"/>
                </a:solidFill>
                <a:latin typeface="Calibri"/>
              </a:rPr>
              <a:t>doble clic en la pestaña, escribir y pulsar Intro.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Ejemplos: </a:t>
            </a:r>
            <a:r>
              <a:rPr sz="1600">
                <a:solidFill>
                  <a:srgbClr val="1F2A24"/>
                </a:solidFill>
                <a:latin typeface="Calibri"/>
              </a:rPr>
              <a:t>Ventas, Clientes, Presupuestos, Inventario.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Guardar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Primera vez: </a:t>
            </a:r>
            <a:r>
              <a:rPr sz="1600">
                <a:solidFill>
                  <a:srgbClr val="1F2A24"/>
                </a:solidFill>
                <a:latin typeface="Calibri"/>
              </a:rPr>
              <a:t>indicar nombre, ubicacion y formato.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Despues: </a:t>
            </a:r>
            <a:r>
              <a:rPr sz="1600">
                <a:solidFill>
                  <a:srgbClr val="1F2A24"/>
                </a:solidFill>
                <a:latin typeface="Calibri"/>
              </a:rPr>
              <a:t>basta con Guardar para actualizar los cambios.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771644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Identificar celdas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La celda es la unidad basica de Excel: como localizarla y moverse con soltura.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</p:spTree>
    <p:extLst>
      <p:ext uri="{BB962C8B-B14F-4D97-AF65-F5344CB8AC3E}">
        <p14:creationId xmlns:p14="http://schemas.microsoft.com/office/powerpoint/2010/main" val="1343973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CONCEPTO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La estructura de la hoja y la celda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La cuadricula: </a:t>
            </a:r>
            <a:r>
              <a:rPr sz="1600">
                <a:solidFill>
                  <a:srgbClr val="1F2A24"/>
                </a:solidFill>
                <a:latin typeface="Calibri"/>
              </a:rPr>
              <a:t>filas horizontales (numeros) y columnas verticales (letras).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Su interseccion: </a:t>
            </a:r>
            <a:r>
              <a:rPr sz="1600">
                <a:solidFill>
                  <a:srgbClr val="1F2A24"/>
                </a:solidFill>
                <a:latin typeface="Calibri"/>
              </a:rPr>
              <a:t>forma la celda, por ejemplo C5 (columna C, fila 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Que es una celda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Espacio individual: </a:t>
            </a:r>
            <a:r>
              <a:rPr sz="1600">
                <a:solidFill>
                  <a:srgbClr val="1F2A24"/>
                </a:solidFill>
                <a:latin typeface="Calibri"/>
              </a:rPr>
              <a:t>puede contener texto, numeros, fechas o formulas.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Cada celda: </a:t>
            </a:r>
            <a:r>
              <a:rPr sz="1600">
                <a:solidFill>
                  <a:srgbClr val="1F2A24"/>
                </a:solidFill>
                <a:latin typeface="Calibri"/>
              </a:rPr>
              <a:t>funciona de forma independiente dentro de la hoja.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643553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A24"/>
                </a:solidFill>
                <a:latin typeface="Cambria"/>
              </a:rPr>
              <a:t>Ejemplo: tabla de productos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A24"/>
                </a:solidFill>
                <a:latin typeface="Calibri"/>
              </a:rPr>
              <a:t>Una misma fila puede combinar distintos tipos de dato: texto, moneda y numero.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37744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Columna A - Producto (texto): Raton, Monitor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Columna B - Precio (moneda): 18,50 €, 249,00 €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Columna C - Stock (numero): 25,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571500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pPr algn="ctr"/>
            <a:r>
              <a:rPr sz="1450" b="1">
                <a:solidFill>
                  <a:srgbClr val="0A4F2A"/>
                </a:solidFill>
                <a:latin typeface="Calibri"/>
              </a:rPr>
              <a:t>Resultado: </a:t>
            </a:r>
            <a:r>
              <a:rPr sz="1450">
                <a:solidFill>
                  <a:srgbClr val="1F2A24"/>
                </a:solidFill>
                <a:latin typeface="Calibri"/>
              </a:rPr>
              <a:t>Excel interpreta cada columna segun el tipo de dato introducido.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899031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41274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Ejemplos de referencia de celda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Referencia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Ubicacion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Columna A, fila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B8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Columna B, fila 8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F15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Columna F, fila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AA3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Columna AA, fila 3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5419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NAVEGACION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La celda activa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Celda activa: </a:t>
            </a:r>
            <a:r>
              <a:rPr sz="1600">
                <a:solidFill>
                  <a:srgbClr val="1F2A24"/>
                </a:solidFill>
                <a:latin typeface="Calibri"/>
              </a:rPr>
              <a:t>la que esta seleccionada en cada momento; se ve con un borde mas grueso.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Se muestra en: </a:t>
            </a:r>
            <a:r>
              <a:rPr sz="1600">
                <a:solidFill>
                  <a:srgbClr val="1F2A24"/>
                </a:solidFill>
                <a:latin typeface="Calibri"/>
              </a:rPr>
              <a:t>el cuadro de nombres, a la izquierda de la barra de formulas.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Todo lo que escribas: </a:t>
            </a:r>
            <a:r>
              <a:rPr sz="1600">
                <a:solidFill>
                  <a:srgbClr val="1F2A24"/>
                </a:solidFill>
                <a:latin typeface="Calibri"/>
              </a:rPr>
              <a:t>se guarda en la celda activa.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886977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NAVEGACION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Atajos para desplazarse por la hoja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Metodo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Mover una celda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Flechas del teclado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Ir a la siguiente celda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Tabulador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Pasar a la fila inferior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Intro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Ir al inicio de la fila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Inicio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Ir a la primera celda de la hoja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Ctrl + Inicio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Ir a la ultima celda utilizada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Ctrl + Fin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665077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88696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Referencias relativas y absolutas (avance)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Tipo de referencia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Relativa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Absoluta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$A$1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Columna fija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$A1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Fila fija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A$1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32688" y="4480560"/>
            <a:ext cx="10332720" cy="548640"/>
          </a:xfrm>
          <a:prstGeom prst="roundRect">
            <a:avLst>
              <a:gd name="adj" fmla="val 12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pPr algn="ctr"/>
            <a:r>
              <a:rPr sz="1250" i="1">
                <a:solidFill>
                  <a:srgbClr val="5B6B62"/>
                </a:solidFill>
                <a:latin typeface="Calibri"/>
              </a:rPr>
              <a:t>Se estudiaran en profundidad en el apartado 15, al trabajar con formulas.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664572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BUENAS PRACTICAS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Buenas practicas al trabajar con celdas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Verificar siempre la celda activa antes de introducir informacion.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Mantener una estructura ordenada, sin espacios innecesarios entre datos.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Seleccionar con cuidado los rangos antes de aplicar formatos o eliminar datos.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Usar el cuadro de nombres para moverse rapido por hojas extensas.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51022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 i="0">
                <a:solidFill>
                  <a:srgbClr val="132019"/>
                </a:solidFill>
                <a:latin typeface="Cambria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Insertar valores en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Introducir, modificar y reutilizar datos: la base de cualquier hoja de calculo.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</p:spTree>
    <p:extLst>
      <p:ext uri="{BB962C8B-B14F-4D97-AF65-F5344CB8AC3E}">
        <p14:creationId xmlns:p14="http://schemas.microsoft.com/office/powerpoint/2010/main" val="2165634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78181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Introducir y modificar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Para introducir un dato: </a:t>
            </a:r>
            <a:r>
              <a:rPr sz="1600">
                <a:solidFill>
                  <a:srgbClr val="1F2A24"/>
                </a:solidFill>
                <a:latin typeface="Calibri"/>
              </a:rPr>
              <a:t>seleccionar la celda, escribir y pulsar Intro o Tabulador.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Para modificarlo: </a:t>
            </a:r>
            <a:r>
              <a:rPr sz="1600">
                <a:solidFill>
                  <a:srgbClr val="1F2A24"/>
                </a:solidFill>
                <a:latin typeface="Calibri"/>
              </a:rPr>
              <a:t>volver a escribir, hacer doble clic o usar la barra de formulas.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Consejo: </a:t>
            </a:r>
            <a:r>
              <a:rPr sz="1600">
                <a:solidFill>
                  <a:srgbClr val="1F2A24"/>
                </a:solidFill>
                <a:latin typeface="Calibri"/>
              </a:rPr>
              <a:t>comprobar siempre que la celda activa es la correcta antes de escribir.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23435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78181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Tipos de dato que reconoce Excel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Tipo de dato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Cliente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Numero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15/09/2026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Hora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09:30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Moneda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150,75 €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Porcentaje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18 %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63131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EDICION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Eliminar, copiar y mover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Eliminar contenido: </a:t>
            </a:r>
            <a:r>
              <a:rPr sz="1600">
                <a:solidFill>
                  <a:srgbClr val="1F2A24"/>
                </a:solidFill>
                <a:latin typeface="Calibri"/>
              </a:rPr>
              <a:t>seleccionar y pulsar Supr (mantiene el formato).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Copiar y mover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Copiar: </a:t>
            </a:r>
            <a:r>
              <a:rPr sz="1600">
                <a:solidFill>
                  <a:srgbClr val="1F2A24"/>
                </a:solidFill>
                <a:latin typeface="Calibri"/>
              </a:rPr>
              <a:t>Ctrl + C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Cortar: </a:t>
            </a:r>
            <a:r>
              <a:rPr sz="1600">
                <a:solidFill>
                  <a:srgbClr val="1F2A24"/>
                </a:solidFill>
                <a:latin typeface="Calibri"/>
              </a:rPr>
              <a:t>Ctrl + X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Pegar: </a:t>
            </a:r>
            <a:r>
              <a:rPr sz="1600">
                <a:solidFill>
                  <a:srgbClr val="1F2A24"/>
                </a:solidFill>
                <a:latin typeface="Calibri"/>
              </a:rPr>
              <a:t>Ctrl +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288902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62306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PRODUCTIVIDAD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Autorrelleno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Que es: </a:t>
            </a:r>
            <a:r>
              <a:rPr sz="1600">
                <a:solidFill>
                  <a:srgbClr val="1F2A24"/>
                </a:solidFill>
                <a:latin typeface="Calibri"/>
              </a:rPr>
              <a:t>arrastrar el cuadrado de la esquina inferior derecha de la celda para copiar o completar series.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Genera series de: </a:t>
            </a:r>
            <a:r>
              <a:rPr sz="1600">
                <a:solidFill>
                  <a:srgbClr val="1F2A24"/>
                </a:solidFill>
                <a:latin typeface="Calibri"/>
              </a:rPr>
              <a:t>dias de la semana, meses del año, numeros consecutivos y fechas.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Ventaja: </a:t>
            </a:r>
            <a:r>
              <a:rPr sz="1600">
                <a:solidFill>
                  <a:srgbClr val="1F2A24"/>
                </a:solidFill>
                <a:latin typeface="Calibri"/>
              </a:rPr>
              <a:t>agiliza mucho el trabajo con listas extensas.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993241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practico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2143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 dirty="0">
                <a:solidFill>
                  <a:srgbClr val="E8A33D"/>
                </a:solidFill>
                <a:latin typeface="Calibri"/>
              </a:rPr>
              <a:t>1. 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Crear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una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hoja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nueva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con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una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tabla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de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cinco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productos</a:t>
            </a:r>
            <a:r>
              <a:rPr sz="1600" dirty="0">
                <a:solidFill>
                  <a:srgbClr val="EAF3EC"/>
                </a:solidFill>
                <a:latin typeface="Calibri"/>
              </a:rPr>
              <a:t>: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Producto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(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texto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),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Precio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unitario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(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numero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con 2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decimales</a:t>
            </a:r>
            <a:r>
              <a:rPr sz="1600" dirty="0">
                <a:solidFill>
                  <a:srgbClr val="EAF3EC"/>
                </a:solidFill>
                <a:latin typeface="Calibri"/>
              </a:rPr>
              <a:t>),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Unidades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en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stock (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numero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entero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) y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Fecha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de entrada (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fecha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).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 dirty="0">
                <a:solidFill>
                  <a:srgbClr val="E8A33D"/>
                </a:solidFill>
                <a:latin typeface="Calibri"/>
              </a:rPr>
              <a:t>2. 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Introducir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hasta 10 datos en las filas,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comprobando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que Excel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reconoce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correctamente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el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tipo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en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cada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columna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 dirty="0">
                <a:solidFill>
                  <a:srgbClr val="E8A33D"/>
                </a:solidFill>
                <a:latin typeface="Calibri"/>
              </a:rPr>
              <a:t>3.  </a:t>
            </a:r>
            <a:r>
              <a:rPr sz="1600" dirty="0">
                <a:solidFill>
                  <a:srgbClr val="EAF3EC"/>
                </a:solidFill>
                <a:latin typeface="Calibri"/>
              </a:rPr>
              <a:t>En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una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columna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adicional</a:t>
            </a:r>
            <a:r>
              <a:rPr sz="1600" dirty="0">
                <a:solidFill>
                  <a:srgbClr val="EAF3EC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escribir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la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primera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fecha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de revision y usar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autorrelleno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para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generar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cuatro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fechas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mas con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cadencia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semanal</a:t>
            </a:r>
            <a:r>
              <a:rPr sz="1600" dirty="0">
                <a:solidFill>
                  <a:srgbClr val="EAF3EC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 dirty="0">
                <a:solidFill>
                  <a:srgbClr val="E8A33D"/>
                </a:solidFill>
                <a:latin typeface="Calibri"/>
              </a:rPr>
              <a:t>4. 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Guardar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el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libro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con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el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nombre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“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Ejercicios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Excel”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en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la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carpeta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del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curso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725798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 i="0">
                <a:solidFill>
                  <a:srgbClr val="132019"/>
                </a:solidFill>
                <a:latin typeface="Cambria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Dar formato en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Mejorar la apariencia de la hoja para que la informacion se lea con claridad.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</p:spTree>
    <p:extLst>
      <p:ext uri="{BB962C8B-B14F-4D97-AF65-F5344CB8AC3E}">
        <p14:creationId xmlns:p14="http://schemas.microsoft.com/office/powerpoint/2010/main" val="16199603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FORMATO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Formato de fuente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Cambiar el tipo y el tamaño de letra.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Aplicar negrita, cursiva o subrayado.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Cambiar el color del texto o el color de relleno de la celda.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Se usa sobre todo para resaltar titulos, encabezados o datos importantes.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545156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FORMATO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Alineacion del contenido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Opcion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Funcion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Alinear a la izquierda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Sitúa el contenido junto al borde izquierdo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Centrar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Coloca el contenido en el centro de la celda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Alinear a la derecha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Sitúa el contenido junto al borde derecho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Combinar y centrar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Une varias celdas y centra el contenido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845265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FORMATO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Formato de numeros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Formato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Numero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2.500,00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Moneda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2.500,00 €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Porcentaje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25 %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15/09/2026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Hora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09:30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415614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PRESENTACION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Bordes, relleno y copiar formato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Bordes y relleno: </a:t>
            </a:r>
            <a:r>
              <a:rPr sz="1600">
                <a:solidFill>
                  <a:srgbClr val="1F2A24"/>
                </a:solidFill>
                <a:latin typeface="Calibri"/>
              </a:rPr>
              <a:t>delimitan celdas y resaltan encabezados o zonas importantes.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Copiar formato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Herramienta pincel: </a:t>
            </a:r>
            <a:r>
              <a:rPr sz="1600">
                <a:solidFill>
                  <a:srgbClr val="1F2A24"/>
                </a:solidFill>
                <a:latin typeface="Calibri"/>
              </a:rPr>
              <a:t>copia el formato de una celda y lo aplica a otra sin tocar su contenido.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Ventaja: </a:t>
            </a:r>
            <a:r>
              <a:rPr sz="1600">
                <a:solidFill>
                  <a:srgbClr val="1F2A24"/>
                </a:solidFill>
                <a:latin typeface="Calibri"/>
              </a:rPr>
              <a:t>garantiza una presentacion uniforme en toda la hoja.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608403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practico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18607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 dirty="0">
                <a:solidFill>
                  <a:srgbClr val="E8A33D"/>
                </a:solidFill>
                <a:latin typeface="Calibri"/>
              </a:rPr>
              <a:t>1. 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Aplicar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a la fila de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encabezados</a:t>
            </a:r>
            <a:r>
              <a:rPr sz="1600" dirty="0">
                <a:solidFill>
                  <a:srgbClr val="EAF3EC"/>
                </a:solidFill>
                <a:latin typeface="Calibri"/>
              </a:rPr>
              <a:t>: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negrita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, relleno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azul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claro y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texto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centrado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 dirty="0">
                <a:solidFill>
                  <a:srgbClr val="E8A33D"/>
                </a:solidFill>
                <a:latin typeface="Calibri"/>
              </a:rPr>
              <a:t>2.  </a:t>
            </a:r>
            <a:r>
              <a:rPr sz="1600" dirty="0">
                <a:solidFill>
                  <a:srgbClr val="EAF3EC"/>
                </a:solidFill>
                <a:latin typeface="Calibri"/>
              </a:rPr>
              <a:t>Dar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formato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de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moneda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(€, 2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decimales</a:t>
            </a:r>
            <a:r>
              <a:rPr sz="1600" dirty="0">
                <a:solidFill>
                  <a:srgbClr val="EAF3EC"/>
                </a:solidFill>
                <a:latin typeface="Calibri"/>
              </a:rPr>
              <a:t>) a la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columna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“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Precio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unitario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” y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formato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de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numero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sin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decimales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a “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Unidades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en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stock”.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 dirty="0">
                <a:solidFill>
                  <a:srgbClr val="E8A33D"/>
                </a:solidFill>
                <a:latin typeface="Calibri"/>
              </a:rPr>
              <a:t>3. 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Aplicar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bordes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exteriores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e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interiores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a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toda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la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tabla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 dirty="0">
                <a:solidFill>
                  <a:srgbClr val="E8A33D"/>
                </a:solidFill>
                <a:latin typeface="Calibri"/>
              </a:rPr>
              <a:t>4.  </a:t>
            </a:r>
            <a:r>
              <a:rPr sz="1600" dirty="0">
                <a:solidFill>
                  <a:srgbClr val="EAF3EC"/>
                </a:solidFill>
                <a:latin typeface="Calibri"/>
              </a:rPr>
              <a:t>Usar “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Copiar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formato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” para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aplicar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el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mismo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estilo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de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encabezado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a 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la columna de revisión semanal</a:t>
            </a:r>
            <a:r>
              <a:rPr sz="1600" dirty="0">
                <a:solidFill>
                  <a:srgbClr val="EAF3EC"/>
                </a:solidFill>
                <a:latin typeface="Calibri"/>
              </a:rPr>
              <a:t>.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 </a:t>
            </a:r>
            <a:endParaRPr sz="1600" dirty="0">
              <a:solidFill>
                <a:srgbClr val="EAF3E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915026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 i="0">
                <a:solidFill>
                  <a:srgbClr val="132019"/>
                </a:solidFill>
                <a:latin typeface="Cambria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Agregar y quitar celdas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Reorganizar la hoja: insertar espacio nuevo o eliminar lo que ya no hace falta.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</p:spTree>
    <p:extLst>
      <p:ext uri="{BB962C8B-B14F-4D97-AF65-F5344CB8AC3E}">
        <p14:creationId xmlns:p14="http://schemas.microsoft.com/office/powerpoint/2010/main" val="35777155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INSERTAR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Insertar celdas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Como: </a:t>
            </a:r>
            <a:r>
              <a:rPr sz="1600">
                <a:solidFill>
                  <a:srgbClr val="1F2A24"/>
                </a:solidFill>
                <a:latin typeface="Calibri"/>
              </a:rPr>
              <a:t>Inicio &gt; Insertar (grupo Celdas) o clic derecho &gt; Insertar.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Excel pregunta: </a:t>
            </a:r>
            <a:r>
              <a:rPr sz="1600">
                <a:solidFill>
                  <a:srgbClr val="1F2A24"/>
                </a:solidFill>
                <a:latin typeface="Calibri"/>
              </a:rPr>
              <a:t>como desplazar el resto de la informacion.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Opciones: </a:t>
            </a:r>
            <a:r>
              <a:rPr sz="1600">
                <a:solidFill>
                  <a:srgbClr val="1F2A24"/>
                </a:solidFill>
                <a:latin typeface="Calibri"/>
              </a:rPr>
              <a:t>desplazar hacia la derecha o hacia abajo.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Eliminar celdas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Como: </a:t>
            </a:r>
            <a:r>
              <a:rPr sz="1600">
                <a:solidFill>
                  <a:srgbClr val="1F2A24"/>
                </a:solidFill>
                <a:latin typeface="Calibri"/>
              </a:rPr>
              <a:t>Inicio &gt; Eliminar o clic derecho &gt; Eliminar.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Excel pregunta: </a:t>
            </a:r>
            <a:r>
              <a:rPr sz="1600">
                <a:solidFill>
                  <a:srgbClr val="1F2A24"/>
                </a:solidFill>
                <a:latin typeface="Calibri"/>
              </a:rPr>
              <a:t>como reorganizar las celdas restantes.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Opciones: </a:t>
            </a:r>
            <a:r>
              <a:rPr sz="1600">
                <a:solidFill>
                  <a:srgbClr val="1F2A24"/>
                </a:solidFill>
                <a:latin typeface="Calibri"/>
              </a:rPr>
              <a:t>desplazar hacia la izquierda o hacia arriba.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697583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CONTENIDO VS CELDA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Borrar contenido y buenas practicas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Borrar solo el contenido: </a:t>
            </a:r>
            <a:r>
              <a:rPr sz="1600">
                <a:solidFill>
                  <a:srgbClr val="1F2A24"/>
                </a:solidFill>
                <a:latin typeface="Calibri"/>
              </a:rPr>
              <a:t>seleccionar la celda y pulsar Supr; la celda y su formato se mantienen.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Antes de insertar/eliminar: </a:t>
            </a:r>
            <a:r>
              <a:rPr sz="1600">
                <a:solidFill>
                  <a:srgbClr val="1F2A24"/>
                </a:solidFill>
                <a:latin typeface="Calibri"/>
              </a:rPr>
              <a:t>comprobar si hay formulas que puedan verse afectadas.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Si algo sale mal: </a:t>
            </a:r>
            <a:r>
              <a:rPr sz="1600">
                <a:solidFill>
                  <a:srgbClr val="1F2A24"/>
                </a:solidFill>
                <a:latin typeface="Calibri"/>
              </a:rPr>
              <a:t>usar Deshacer (Ctrl + Z).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73128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practico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1.  </a:t>
            </a:r>
            <a:r>
              <a:rPr sz="1600">
                <a:solidFill>
                  <a:srgbClr val="EAF3EC"/>
                </a:solidFill>
                <a:latin typeface="Calibri"/>
              </a:rPr>
              <a:t>Sobre la tabla del ejercicio anterior, insertar una columna “Categoria” entre “Precio unitario” y “Unidades en stock”. Rellenarla para cada producto.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2.  </a:t>
            </a:r>
            <a:r>
              <a:rPr sz="1600">
                <a:solidFill>
                  <a:srgbClr val="EAF3EC"/>
                </a:solidFill>
                <a:latin typeface="Calibri"/>
              </a:rPr>
              <a:t>Insertar una fila en blanco entre el segundo y el tercer producto e introducir un sexto producto.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3.  </a:t>
            </a:r>
            <a:r>
              <a:rPr sz="1600">
                <a:solidFill>
                  <a:srgbClr val="EAF3EC"/>
                </a:solidFill>
                <a:latin typeface="Calibri"/>
              </a:rPr>
              <a:t>Comprobar el resultado y deshacer cualquier cambio que no sea el esperado.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577702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 i="0">
                <a:solidFill>
                  <a:srgbClr val="132019"/>
                </a:solidFill>
                <a:latin typeface="Cambria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Columnas y filas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Insertar, eliminar y ajustar el tamaño de filas y columnas para una hoja mas clara.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</p:spTree>
    <p:extLst>
      <p:ext uri="{BB962C8B-B14F-4D97-AF65-F5344CB8AC3E}">
        <p14:creationId xmlns:p14="http://schemas.microsoft.com/office/powerpoint/2010/main" val="2572786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Insertar y eliminar filas o columnas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Insertar: </a:t>
            </a:r>
            <a:r>
              <a:rPr sz="1600">
                <a:solidFill>
                  <a:srgbClr val="1F2A24"/>
                </a:solidFill>
                <a:latin typeface="Calibri"/>
              </a:rPr>
              <a:t>Inicio &gt; Insertar &gt; Insertar filas/columnas de hoja.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La nueva fila: </a:t>
            </a:r>
            <a:r>
              <a:rPr sz="1600">
                <a:solidFill>
                  <a:srgbClr val="1F2A24"/>
                </a:solidFill>
                <a:latin typeface="Calibri"/>
              </a:rPr>
              <a:t>aparece encima; la nueva columna, a la izquierda.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Eliminar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Eliminar: </a:t>
            </a:r>
            <a:r>
              <a:rPr sz="1600">
                <a:solidFill>
                  <a:srgbClr val="1F2A24"/>
                </a:solidFill>
                <a:latin typeface="Calibri"/>
              </a:rPr>
              <a:t>seleccionar la fila/columna y usar Eliminar.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Importante: </a:t>
            </a:r>
            <a:r>
              <a:rPr sz="1600">
                <a:solidFill>
                  <a:srgbClr val="1F2A24"/>
                </a:solidFill>
                <a:latin typeface="Calibri"/>
              </a:rPr>
              <a:t>se elimina tanto el dato como el formato aplicado.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80991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PRESENTACION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Ajustar tamaño, ocultar y mostrar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Ajustar tamaño: </a:t>
            </a:r>
            <a:r>
              <a:rPr sz="1600">
                <a:solidFill>
                  <a:srgbClr val="1F2A24"/>
                </a:solidFill>
                <a:latin typeface="Calibri"/>
              </a:rPr>
              <a:t>arrastrar el borde del encabezado o usar Autoajustar.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Ocultar / mostrar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Ocultar: </a:t>
            </a:r>
            <a:r>
              <a:rPr sz="1600">
                <a:solidFill>
                  <a:srgbClr val="1F2A24"/>
                </a:solidFill>
                <a:latin typeface="Calibri"/>
              </a:rPr>
              <a:t>clic derecho sobre la fila/columna &gt; Ocultar.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Mostrar de nuevo: </a:t>
            </a:r>
            <a:r>
              <a:rPr sz="1600">
                <a:solidFill>
                  <a:srgbClr val="1F2A24"/>
                </a:solidFill>
                <a:latin typeface="Calibri"/>
              </a:rPr>
              <a:t>seleccionar las adyacentes &gt; Mostrar.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505202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practico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1.  </a:t>
            </a:r>
            <a:r>
              <a:rPr sz="1600">
                <a:solidFill>
                  <a:srgbClr val="EAF3EC"/>
                </a:solidFill>
                <a:latin typeface="Calibri"/>
              </a:rPr>
              <a:t>Seleccionar todas las columnas con datos y aplicar Autoajustar ancho de columna.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2.  </a:t>
            </a:r>
            <a:r>
              <a:rPr sz="1600">
                <a:solidFill>
                  <a:srgbClr val="EAF3EC"/>
                </a:solidFill>
                <a:latin typeface="Calibri"/>
              </a:rPr>
              <a:t>Insertar una fila en blanco entre el segundo y el tercer producto e introducir un sexto producto.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3.  </a:t>
            </a:r>
            <a:r>
              <a:rPr sz="1600">
                <a:solidFill>
                  <a:srgbClr val="EAF3EC"/>
                </a:solidFill>
                <a:latin typeface="Calibri"/>
              </a:rPr>
              <a:t>Ocultar la columna “Fecha de entrada”, comprobar que los datos siguen presentes y volver a mostrarla.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204987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Escribir formulas en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El calculo automatico: formulas, operadores, referencias y errores habituales.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CONCEPTO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Que es una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Definicion: </a:t>
            </a:r>
            <a:r>
              <a:rPr sz="1600">
                <a:solidFill>
                  <a:srgbClr val="1F2A24"/>
                </a:solidFill>
                <a:latin typeface="Calibri"/>
              </a:rPr>
              <a:t>expresion que realiza operaciones con numeros, referencias y operadores.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Siempre empieza por: </a:t>
            </a:r>
            <a:r>
              <a:rPr sz="1600">
                <a:solidFill>
                  <a:srgbClr val="1F2A24"/>
                </a:solidFill>
                <a:latin typeface="Calibri"/>
              </a:rPr>
              <a:t>el signo = , que indica a Excel que debe calcular, no leer texto.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Ejemplo: </a:t>
            </a:r>
            <a:r>
              <a:rPr sz="1600">
                <a:solidFill>
                  <a:srgbClr val="1F2A24"/>
                </a:solidFill>
                <a:latin typeface="Calibri"/>
              </a:rPr>
              <a:t>=A1+B1 suma el contenido de A1 y B1.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CONCEPTO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Operadores matematicos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Operador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Operacion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Suma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=A1+B1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Resta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=A1-B1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Multiplicacion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=A1*B1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/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Division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=A1/B1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^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Potencia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=A1^2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A24"/>
                </a:solidFill>
                <a:latin typeface="Cambria"/>
              </a:rPr>
              <a:t>Ejemplo: escribir una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A24"/>
                </a:solidFill>
                <a:latin typeface="Calibri"/>
              </a:rPr>
              <a:t>Si B2 contiene el precio de un producto y C2 la cantidad vendida, el importe total se calcula asi: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37744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132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76200" rIns="203200" bIns="76200" rtlCol="0" anchor="ctr"/>
          <a:lstStyle/>
          <a:p>
            <a:pPr algn="ctr"/>
            <a:r>
              <a:rPr sz="1800" b="1">
                <a:solidFill>
                  <a:srgbClr val="E8A33D"/>
                </a:solidFill>
                <a:latin typeface="Consolas"/>
              </a:rPr>
              <a:t>=B2*C2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9184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Seleccionar la celda donde debe aparecer el resultado.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Escribir el signo = seguido de la operacion.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Pulsar Intro para calcular el resultado.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571500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pPr algn="ctr"/>
            <a:r>
              <a:rPr sz="1450" b="1">
                <a:solidFill>
                  <a:srgbClr val="0A4F2A"/>
                </a:solidFill>
                <a:latin typeface="Calibri"/>
              </a:rPr>
              <a:t>Resultado: </a:t>
            </a:r>
            <a:r>
              <a:rPr sz="1450">
                <a:solidFill>
                  <a:srgbClr val="1F2A24"/>
                </a:solidFill>
                <a:latin typeface="Calibri"/>
              </a:rPr>
              <a:t>Si cambia el precio o la cantidad, el resultado se actualiza automaticamente.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BUENAS PRACTICAS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Referencias y copiar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Usar referencias, </a:t>
            </a:r>
            <a:r>
              <a:rPr sz="1600">
                <a:solidFill>
                  <a:srgbClr val="1F2A24"/>
                </a:solidFill>
                <a:latin typeface="Calibri"/>
              </a:rPr>
              <a:t>no valores fijos: =A2+B2 es mejor que =150+75.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Ventaja: </a:t>
            </a:r>
            <a:r>
              <a:rPr sz="1600">
                <a:solidFill>
                  <a:srgbClr val="1F2A24"/>
                </a:solidFill>
                <a:latin typeface="Calibri"/>
              </a:rPr>
              <a:t>la formula sigue siendo valida aunque cambien los datos.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Copiar formulas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Controlador de relleno: </a:t>
            </a:r>
            <a:r>
              <a:rPr sz="1600">
                <a:solidFill>
                  <a:srgbClr val="1F2A24"/>
                </a:solidFill>
                <a:latin typeface="Calibri"/>
              </a:rPr>
              <a:t>esquina inferior derecha de la celda; al arrastrar, adapta las referencias.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Muy util: </a:t>
            </a:r>
            <a:r>
              <a:rPr sz="1600">
                <a:solidFill>
                  <a:srgbClr val="1F2A24"/>
                </a:solidFill>
                <a:latin typeface="Calibri"/>
              </a:rPr>
              <a:t>para tablas con muchos registros.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ERRORES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Mensajes de error mas habituales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Significado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#¡DIV/0!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Se intenta dividir entre cero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#¿NOMBRE?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Excel no reconoce el nombre usado en la formula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#¡VALOR!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Se ha usado un tipo de dato incorrecto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#####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La columna es demasiado estrecha para mostrar el resultado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practico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1.  </a:t>
            </a:r>
            <a:r>
              <a:rPr sz="1600">
                <a:solidFill>
                  <a:srgbClr val="EAF3EC"/>
                </a:solidFill>
                <a:latin typeface="Calibri"/>
              </a:rPr>
              <a:t>Añadir una columna “Valor en stock” = Precio unitario x Unidades en stock, usando referencias de celda.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2.  </a:t>
            </a:r>
            <a:r>
              <a:rPr sz="1600">
                <a:solidFill>
                  <a:srgbClr val="EAF3EC"/>
                </a:solidFill>
                <a:latin typeface="Calibri"/>
              </a:rPr>
              <a:t>Añadir una columna “Descuento (10%)” que calcule el 10% del valor en stock.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3.  </a:t>
            </a:r>
            <a:r>
              <a:rPr sz="1600">
                <a:solidFill>
                  <a:srgbClr val="EAF3EC"/>
                </a:solidFill>
                <a:latin typeface="Calibri"/>
              </a:rPr>
              <a:t>Añadir una columna “Valor final” que reste el descuento al valor en stock.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4.  </a:t>
            </a:r>
            <a:r>
              <a:rPr sz="1600">
                <a:solidFill>
                  <a:srgbClr val="EAF3EC"/>
                </a:solidFill>
                <a:latin typeface="Calibri"/>
              </a:rPr>
              <a:t>Copiar las tres formulas a todas las filas con el controlador de relleno y verificar que las referencias se adaptan.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FB3A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Funciones basicas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SUMA, PROMEDIO, MAX, MIN, CONTAR y las funciones condicionales CONTAR.SI y SUMAR.SI.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CONCEPTO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Que es una funcion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Definicion: </a:t>
            </a:r>
            <a:r>
              <a:rPr sz="1600">
                <a:solidFill>
                  <a:srgbClr val="1F2A24"/>
                </a:solidFill>
                <a:latin typeface="Calibri"/>
              </a:rPr>
              <a:t>formula predefinida por Excel para realizar un calculo especifico.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Sintaxis: </a:t>
            </a:r>
            <a:r>
              <a:rPr sz="1600">
                <a:solidFill>
                  <a:srgbClr val="1F2A24"/>
                </a:solidFill>
                <a:latin typeface="Calibri"/>
              </a:rPr>
              <a:t>empieza por =, seguido del nombre y los argumentos entre parentesis.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Ejemplo: </a:t>
            </a:r>
            <a:r>
              <a:rPr sz="1600">
                <a:solidFill>
                  <a:srgbClr val="1F2A24"/>
                </a:solidFill>
                <a:latin typeface="Calibri"/>
              </a:rPr>
              <a:t>=SUMA(A1:A10) suma todos los valores entre A1 y A10.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A24"/>
                </a:solidFill>
                <a:latin typeface="Cambria"/>
              </a:rPr>
              <a:t>Ejemplo: la funcion SUMA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A24"/>
                </a:solidFill>
                <a:latin typeface="Calibri"/>
              </a:rPr>
              <a:t>Para calcular el importe total de una lista de productos: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37744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132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76200" rIns="203200" bIns="76200" rtlCol="0" anchor="ctr"/>
          <a:lstStyle/>
          <a:p>
            <a:pPr algn="ctr"/>
            <a:r>
              <a:rPr sz="1800" b="1">
                <a:solidFill>
                  <a:srgbClr val="E8A33D"/>
                </a:solidFill>
                <a:latin typeface="Consolas"/>
              </a:rPr>
              <a:t>=SUMA(B2:B4)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9184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Raton: 25 €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Teclado: 40 €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Monitor: 180 €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571500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pPr algn="ctr"/>
            <a:r>
              <a:rPr sz="1450" b="1">
                <a:solidFill>
                  <a:srgbClr val="0A4F2A"/>
                </a:solidFill>
                <a:latin typeface="Calibri"/>
              </a:rPr>
              <a:t>Resultado: </a:t>
            </a:r>
            <a:r>
              <a:rPr sz="1450">
                <a:solidFill>
                  <a:srgbClr val="1F2A24"/>
                </a:solidFill>
                <a:latin typeface="Calibri"/>
              </a:rPr>
              <a:t>245 € — la suma de los tres importes.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202436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FUNCIONES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PROMEDIO, MAX, MIN y CONTAR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Funcion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Utilidad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onsolas"/>
                        </a:rPr>
                        <a:t>=PROMEDIO(C2:C10)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Calcula la media aritmetica del rango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onsolas"/>
                        </a:rPr>
                        <a:t>=MAX(A1:A12)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Obtiene el valor mas alto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onsolas"/>
                        </a:rPr>
                        <a:t>=MIN(A1:A12)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Obtiene el valor mas bajo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onsolas"/>
                        </a:rPr>
                        <a:t>=CONTAR(D2:D25)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Cuenta las celdas que contienen numeros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practico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1.  </a:t>
            </a:r>
            <a:r>
              <a:rPr sz="1600">
                <a:solidFill>
                  <a:srgbClr val="EAF3EC"/>
                </a:solidFill>
                <a:latin typeface="Calibri"/>
              </a:rPr>
              <a:t>Calcular el valor total en stock de todos los productos con SUMA.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2.  </a:t>
            </a:r>
            <a:r>
              <a:rPr sz="1600">
                <a:solidFill>
                  <a:srgbClr val="EAF3EC"/>
                </a:solidFill>
                <a:latin typeface="Calibri"/>
              </a:rPr>
              <a:t>Calcular el precio medio de los productos con PROMEDIO.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3.  </a:t>
            </a:r>
            <a:r>
              <a:rPr sz="1600">
                <a:solidFill>
                  <a:srgbClr val="EAF3EC"/>
                </a:solidFill>
                <a:latin typeface="Calibri"/>
              </a:rPr>
              <a:t>Identificar el precio mas alto con MAX y el mas bajo con MIN.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4.  </a:t>
            </a:r>
            <a:r>
              <a:rPr sz="1600">
                <a:solidFill>
                  <a:srgbClr val="EAF3EC"/>
                </a:solidFill>
                <a:latin typeface="Calibri"/>
              </a:rPr>
              <a:t>Usar CONTAR para verificar cuantos productos tienen datos en la columna de unidades.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FB3A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2253996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FUNCION CONDICIONAL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CONTAR.SI: contar con una condicion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Sintaxis: </a:t>
            </a:r>
            <a:r>
              <a:rPr sz="1600">
                <a:solidFill>
                  <a:srgbClr val="1F2A24"/>
                </a:solidFill>
                <a:latin typeface="Calibri"/>
              </a:rPr>
              <a:t>=CONTAR.SI(rango; criterio)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rango: </a:t>
            </a:r>
            <a:r>
              <a:rPr sz="1600">
                <a:solidFill>
                  <a:srgbClr val="1F2A24"/>
                </a:solidFill>
                <a:latin typeface="Calibri"/>
              </a:rPr>
              <a:t>las celdas que se van a examinar.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criterio: </a:t>
            </a:r>
            <a:r>
              <a:rPr sz="1600">
                <a:solidFill>
                  <a:srgbClr val="1F2A24"/>
                </a:solidFill>
                <a:latin typeface="Calibri"/>
              </a:rPr>
              <a:t>la condicion a cumplir (numero, texto entre comillas o comparacion como “&gt;100”).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A24"/>
                </a:solidFill>
                <a:latin typeface="Cambria"/>
              </a:rPr>
              <a:t>Ejemplo: CONTAR.SI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A24"/>
                </a:solidFill>
                <a:latin typeface="Calibri"/>
              </a:rPr>
              <a:t>Tres formas habituales de usar CONTAR.SI sobre una tabla de clientes: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37744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=CONTAR.SI(B2:B20;"Madrid")  →  cuantas celdas contienen el texto “Madrid”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=CONTAR.SI(C2:C20;"&gt;1000")  →  cuantas celdas superan 1.000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=CONTAR.SI(D2:D20;"Si")  →  cuantos registros tienen “Si” marcado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571500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pPr algn="ctr"/>
            <a:r>
              <a:rPr sz="1450" b="1">
                <a:solidFill>
                  <a:srgbClr val="0A4F2A"/>
                </a:solidFill>
                <a:latin typeface="Calibri"/>
              </a:rPr>
              <a:t>Resultado: </a:t>
            </a:r>
            <a:r>
              <a:rPr sz="1450">
                <a:solidFill>
                  <a:srgbClr val="1F2A24"/>
                </a:solidFill>
                <a:latin typeface="Calibri"/>
              </a:rPr>
              <a:t>Error frecuente: escribir el criterio sin comillas hace que la funcion devuelva 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2253996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FUNCION CONDICIONAL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SUMAR.SI: sumar con una condicion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Sintaxis: </a:t>
            </a:r>
            <a:r>
              <a:rPr sz="1600">
                <a:solidFill>
                  <a:srgbClr val="1F2A24"/>
                </a:solidFill>
                <a:latin typeface="Calibri"/>
              </a:rPr>
              <a:t>=SUMAR.SI(rango_criterio; criterio; rango_suma)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Que hace: </a:t>
            </a:r>
            <a:r>
              <a:rPr sz="1600">
                <a:solidFill>
                  <a:srgbClr val="1F2A24"/>
                </a:solidFill>
                <a:latin typeface="Calibri"/>
              </a:rPr>
              <a:t>suma solo los valores cuya celda de criterio cumple la condicion.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Uso habitual: </a:t>
            </a:r>
            <a:r>
              <a:rPr sz="1600">
                <a:solidFill>
                  <a:srgbClr val="1F2A24"/>
                </a:solidFill>
                <a:latin typeface="Calibri"/>
              </a:rPr>
              <a:t>total de ventas de un vendedor, gastos de un departamento, importes de una categoria.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A24"/>
                </a:solidFill>
                <a:latin typeface="Cambria"/>
              </a:rPr>
              <a:t>Ejemplo: SUMAR.SI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A24"/>
                </a:solidFill>
                <a:latin typeface="Calibri"/>
              </a:rPr>
              <a:t>Tabla con Vendedor (A), Region (B) e Importe (C). Total de ventas solo de la region “Norte”: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37744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132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76200" rIns="203200" bIns="76200" rtlCol="0" anchor="ctr"/>
          <a:lstStyle/>
          <a:p>
            <a:pPr algn="ctr"/>
            <a:r>
              <a:rPr sz="1800" b="1">
                <a:solidFill>
                  <a:srgbClr val="E8A33D"/>
                </a:solidFill>
                <a:latin typeface="Consolas"/>
              </a:rPr>
              <a:t>=SUMAR.SI(B2:B50;"Norte";C2:C50)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9184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Excel recorre la columna B buscando “Norte”.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Suma los importes correspondientes de la columna 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571500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pPr algn="ctr"/>
            <a:r>
              <a:rPr sz="1450" b="1">
                <a:solidFill>
                  <a:srgbClr val="0A4F2A"/>
                </a:solidFill>
                <a:latin typeface="Calibri"/>
              </a:rPr>
              <a:t>Resultado: </a:t>
            </a:r>
            <a:r>
              <a:rPr sz="1450">
                <a:solidFill>
                  <a:srgbClr val="1F2A24"/>
                </a:solidFill>
                <a:latin typeface="Calibri"/>
              </a:rPr>
              <a:t>Error frecuente: invertir rango_criterio y rango_suma, o usar rangos de distinto tamaño.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para alumnos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15776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 dirty="0">
                <a:solidFill>
                  <a:srgbClr val="E8A33D"/>
                </a:solidFill>
                <a:latin typeface="Calibri"/>
              </a:rPr>
              <a:t>1.  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C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alcular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cuant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a</a:t>
            </a:r>
            <a:r>
              <a:rPr sz="1600" dirty="0">
                <a:solidFill>
                  <a:srgbClr val="EAF3EC"/>
                </a:solidFill>
                <a:latin typeface="Calibri"/>
              </a:rPr>
              <a:t>s 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veces se llegó al estado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“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Entregado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” con CONTAR.SI.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 dirty="0">
                <a:solidFill>
                  <a:srgbClr val="E8A33D"/>
                </a:solidFill>
                <a:latin typeface="Calibri"/>
              </a:rPr>
              <a:t>2. 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Calcular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el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Importe Total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por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ese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mismo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estado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con SUMAR.SI.</a:t>
            </a:r>
            <a:endParaRPr lang="es-ES" sz="1600" dirty="0">
              <a:solidFill>
                <a:srgbClr val="EAF3EC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s-ES" sz="1600" b="1" dirty="0">
                <a:solidFill>
                  <a:srgbClr val="E8A33D"/>
                </a:solidFill>
                <a:latin typeface="Calibri"/>
              </a:rPr>
              <a:t>3.  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Calcular el porcentaje de “Entregado” del total de estados.</a:t>
            </a:r>
            <a:endParaRPr sz="1600" dirty="0">
              <a:solidFill>
                <a:srgbClr val="EAF3EC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lang="es-ES" sz="1600" b="1" dirty="0">
                <a:solidFill>
                  <a:srgbClr val="E8A33D"/>
                </a:solidFill>
                <a:latin typeface="Calibri"/>
              </a:rPr>
              <a:t>4</a:t>
            </a:r>
            <a:r>
              <a:rPr sz="1600" b="1" dirty="0">
                <a:solidFill>
                  <a:srgbClr val="E8A33D"/>
                </a:solidFill>
                <a:latin typeface="Calibri"/>
              </a:rPr>
              <a:t>. 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Repetir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el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EAF3EC"/>
                </a:solidFill>
                <a:latin typeface="Calibri"/>
              </a:rPr>
              <a:t>ejercicio</a:t>
            </a:r>
            <a:r>
              <a:rPr sz="1600" dirty="0">
                <a:solidFill>
                  <a:srgbClr val="EAF3EC"/>
                </a:solidFill>
                <a:latin typeface="Calibri"/>
              </a:rPr>
              <a:t> para 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el estado </a:t>
            </a:r>
            <a:r>
              <a:rPr sz="1600" dirty="0">
                <a:solidFill>
                  <a:srgbClr val="EAF3EC"/>
                </a:solidFill>
                <a:latin typeface="Calibri"/>
              </a:rPr>
              <a:t>“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Pendiente</a:t>
            </a:r>
            <a:r>
              <a:rPr sz="1600" dirty="0">
                <a:solidFill>
                  <a:srgbClr val="EAF3EC"/>
                </a:solidFill>
                <a:latin typeface="Calibri"/>
              </a:rPr>
              <a:t>”</a:t>
            </a:r>
            <a:r>
              <a:rPr lang="es-ES" sz="1600" dirty="0">
                <a:solidFill>
                  <a:srgbClr val="EAF3EC"/>
                </a:solidFill>
                <a:latin typeface="Calibri"/>
              </a:rPr>
              <a:t> y “Cancelado”</a:t>
            </a:r>
            <a:r>
              <a:rPr sz="1600" dirty="0">
                <a:solidFill>
                  <a:srgbClr val="EAF3EC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9FB3A6"/>
                </a:solidFill>
                <a:latin typeface="Calibri"/>
              </a:rPr>
              <a:t>Recordatorio: el criterio de texto siempre va entre comillas dobles.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FB3A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202436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ASISTENTE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Insertar una funcion con el asistente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Boton fx: </a:t>
            </a:r>
            <a:r>
              <a:rPr sz="1600">
                <a:solidFill>
                  <a:srgbClr val="1F2A24"/>
                </a:solidFill>
                <a:latin typeface="Calibri"/>
              </a:rPr>
              <a:t>situado junto a la barra de formulas.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Para que sirve: </a:t>
            </a:r>
            <a:r>
              <a:rPr sz="1600">
                <a:solidFill>
                  <a:srgbClr val="1F2A24"/>
                </a:solidFill>
                <a:latin typeface="Calibri"/>
              </a:rPr>
              <a:t>elegir la funcion deseada e indicar las celdas sobre las que actua.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Muy util: </a:t>
            </a:r>
            <a:r>
              <a:rPr sz="1600">
                <a:solidFill>
                  <a:srgbClr val="1F2A24"/>
                </a:solidFill>
                <a:latin typeface="Calibri"/>
              </a:rPr>
              <a:t>cuando todavia no se conoce bien la sintaxis de una funcion.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Fin de la 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987552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400"/>
              </a:spcAft>
              <a:buClr>
                <a:srgbClr val="E8A33D"/>
              </a:buClr>
              <a:buFont typeface="Arial"/>
              <a:buChar char="▪"/>
            </a:pPr>
            <a:r>
              <a:rPr sz="1700">
                <a:solidFill>
                  <a:srgbClr val="EAF3EC"/>
                </a:solidFill>
                <a:latin typeface="Calibri"/>
              </a:rPr>
              <a:t>Hemos cubierto el entorno de trabajo, las celdas, la gestion de archivos, el formato, las formulas y las funciones basicas.</a:t>
            </a:r>
          </a:p>
          <a:p>
            <a:pPr marL="256032" indent="-201168" algn="l">
              <a:lnSpc>
                <a:spcPct val="108000"/>
              </a:lnSpc>
              <a:spcAft>
                <a:spcPts val="1400"/>
              </a:spcAft>
              <a:buClr>
                <a:srgbClr val="E8A33D"/>
              </a:buClr>
              <a:buFont typeface="Arial"/>
              <a:buChar char="▪"/>
            </a:pPr>
            <a:r>
              <a:rPr sz="1700">
                <a:solidFill>
                  <a:srgbClr val="EAF3EC"/>
                </a:solidFill>
                <a:latin typeface="Calibri"/>
              </a:rPr>
              <a:t>Con esta base ya es posible construir y calcular una hoja de Excel completa de principio a fin.</a:t>
            </a:r>
          </a:p>
          <a:p>
            <a:pPr marL="256032" indent="-201168" algn="l">
              <a:lnSpc>
                <a:spcPct val="108000"/>
              </a:lnSpc>
              <a:spcAft>
                <a:spcPts val="1400"/>
              </a:spcAft>
              <a:buClr>
                <a:srgbClr val="E8A33D"/>
              </a:buClr>
              <a:buFont typeface="Arial"/>
              <a:buChar char="▪"/>
            </a:pPr>
            <a:r>
              <a:rPr sz="1700">
                <a:solidFill>
                  <a:srgbClr val="EAF3EC"/>
                </a:solidFill>
                <a:latin typeface="Calibri"/>
              </a:rPr>
              <a:t>La Clase 2 continua con tablas, graficos, referencias avanzadas, la funcion SI, formato condicional, tablas dinamicas y funciones de texto.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2648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9FB3A6"/>
                </a:solidFill>
                <a:latin typeface="Calibri"/>
              </a:rPr>
              <a:t>Proxima sesion: Clase 2 - Analisis de datos (apartados 13 a 19)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F951276-E938-476A-AC26-4213C37E0C61}">
  <we:reference id="wa200010725" version="1.0.0.1" store="es-ES" storeType="OMEX"/>
  <we:alternateReferences>
    <we:reference id="wa200010725" version="1.0.0.1" store="WA200010725" storeType="OMEX"/>
  </we:alternateReferences>
  <we:properties>
    <we:property name="claude.fileId" value="&quot;f8e9bdda-0b43-401e-8bae-a19dc40675c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2813</TotalTime>
  <Words>4572</Words>
  <Application>Microsoft Office PowerPoint</Application>
  <PresentationFormat>Panorámica</PresentationFormat>
  <Paragraphs>834</Paragraphs>
  <Slides>79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79</vt:i4>
      </vt:variant>
    </vt:vector>
  </HeadingPairs>
  <TitlesOfParts>
    <vt:vector size="84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Antonio D. Ambunan</cp:lastModifiedBy>
  <cp:revision>4</cp:revision>
  <dcterms:created xsi:type="dcterms:W3CDTF">2013-01-27T09:14:16Z</dcterms:created>
  <dcterms:modified xsi:type="dcterms:W3CDTF">2026-07-06T15:06:57Z</dcterms:modified>
  <cp:category/>
</cp:coreProperties>
</file>